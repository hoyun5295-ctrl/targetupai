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>
        <p:scale>
          <a:sx n="88" d="100"/>
          <a:sy n="88" d="100"/>
        </p:scale>
        <p:origin x="228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3644677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03120"/>
            <a:ext cx="9144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0" b="1" dirty="0">
                <a:solidFill>
                  <a:srgbClr val="FFFFFF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한줄로</a:t>
            </a:r>
            <a:endParaRPr lang="en-US" sz="110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3" name="Shape 1"/>
          <p:cNvSpPr/>
          <p:nvPr/>
        </p:nvSpPr>
        <p:spPr>
          <a:xfrm>
            <a:off x="5029200" y="3246120"/>
            <a:ext cx="3200400" cy="16459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4" name="Shape 2"/>
          <p:cNvSpPr/>
          <p:nvPr/>
        </p:nvSpPr>
        <p:spPr>
          <a:xfrm>
            <a:off x="731520" y="3840480"/>
            <a:ext cx="164592" cy="164592"/>
          </a:xfrm>
          <a:prstGeom prst="ellipse">
            <a:avLst/>
          </a:prstGeom>
          <a:solidFill>
            <a:srgbClr val="C7F284"/>
          </a:solidFill>
          <a:ln/>
        </p:spPr>
        <p:txBody>
          <a:bodyPr/>
          <a:lstStyle/>
          <a:p>
            <a:endParaRPr lang="ko-KR" altLang="en-US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5" name="Text 3"/>
          <p:cNvSpPr/>
          <p:nvPr/>
        </p:nvSpPr>
        <p:spPr>
          <a:xfrm>
            <a:off x="1005840" y="37033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chemeClr val="bg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hanjul.ai</a:t>
            </a:r>
          </a:p>
        </p:txBody>
      </p:sp>
      <p:sp>
        <p:nvSpPr>
          <p:cNvPr id="6" name="Text 4"/>
          <p:cNvSpPr/>
          <p:nvPr/>
        </p:nvSpPr>
        <p:spPr>
          <a:xfrm>
            <a:off x="731520" y="45720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한 줄로 끝내는 마케팅 자동화</a:t>
            </a:r>
            <a:endParaRPr lang="en-US" sz="32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7" name="Text 5"/>
          <p:cNvSpPr/>
          <p:nvPr/>
        </p:nvSpPr>
        <p:spPr>
          <a:xfrm>
            <a:off x="731520" y="51663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3A3A3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SMS · 알림톡 · Email · Push · AI Operator — 한국 마케팅 통합 솔루션</a:t>
            </a:r>
            <a:endParaRPr lang="en-US" sz="14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8" name="Shape 6"/>
          <p:cNvSpPr/>
          <p:nvPr/>
        </p:nvSpPr>
        <p:spPr>
          <a:xfrm>
            <a:off x="457200" y="6126480"/>
            <a:ext cx="11247120" cy="0"/>
          </a:xfrm>
          <a:prstGeom prst="line">
            <a:avLst/>
          </a:prstGeom>
          <a:noFill/>
          <a:ln w="6350">
            <a:solidFill>
              <a:srgbClr val="262626"/>
            </a:solidFill>
            <a:prstDash val="solid"/>
          </a:ln>
        </p:spPr>
        <p:txBody>
          <a:bodyPr/>
          <a:lstStyle/>
          <a:p>
            <a:endParaRPr lang="ko-KR" altLang="en-US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9" name="Text 7"/>
          <p:cNvSpPr/>
          <p:nvPr/>
        </p:nvSpPr>
        <p:spPr>
          <a:xfrm>
            <a:off x="457200" y="6263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D4D4D4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hanjul.ai</a:t>
            </a:r>
            <a:endParaRPr lang="en-US" sz="11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10" name="Text 8"/>
          <p:cNvSpPr/>
          <p:nvPr/>
        </p:nvSpPr>
        <p:spPr>
          <a:xfrm>
            <a:off x="6400800" y="626364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kern="0" spc="400" dirty="0">
                <a:solidFill>
                  <a:srgbClr val="737373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2026 SERVICE INTRODUCTION</a:t>
            </a:r>
            <a:endParaRPr lang="en-US" sz="11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87680" y="3657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400" b="1" kern="0" spc="100" dirty="0" err="1">
                <a:solidFill>
                  <a:srgbClr val="171717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한줄로</a:t>
            </a:r>
            <a:r>
              <a:rPr lang="en-US" altLang="ko-KR" sz="1400" b="1" kern="0" spc="100" dirty="0">
                <a:solidFill>
                  <a:srgbClr val="171717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_</a:t>
            </a:r>
            <a:endParaRPr lang="en-US" sz="14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3" name="Text 1"/>
          <p:cNvSpPr/>
          <p:nvPr/>
        </p:nvSpPr>
        <p:spPr>
          <a:xfrm>
            <a:off x="7315200" y="32004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kern="0" spc="200" dirty="0">
                <a:solidFill>
                  <a:srgbClr val="737373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TargetUp</a:t>
            </a:r>
            <a:endParaRPr lang="en-US" sz="11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7200" y="777240"/>
            <a:ext cx="1124712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118872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0A0A0A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한국 마케팅 담당자의 현실</a:t>
            </a:r>
            <a:endParaRPr lang="en-US" sz="38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2011680"/>
            <a:ext cx="548640" cy="73152"/>
          </a:xfrm>
          <a:prstGeom prst="rect">
            <a:avLst/>
          </a:prstGeom>
          <a:solidFill>
            <a:srgbClr val="0A0A0A"/>
          </a:solidFill>
          <a:ln/>
        </p:spPr>
        <p:txBody>
          <a:bodyPr/>
          <a:lstStyle/>
          <a:p>
            <a:endParaRPr lang="ko-KR" altLang="en-US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25252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매일 부딪히는 4가지 어려움</a:t>
            </a:r>
            <a:endParaRPr lang="en-US" sz="14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8" name="Shape 6"/>
          <p:cNvSpPr/>
          <p:nvPr/>
        </p:nvSpPr>
        <p:spPr>
          <a:xfrm>
            <a:off x="457200" y="2834640"/>
            <a:ext cx="5349240" cy="164592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ko-KR" altLang="en-US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9" name="Text 7"/>
          <p:cNvSpPr/>
          <p:nvPr/>
        </p:nvSpPr>
        <p:spPr>
          <a:xfrm>
            <a:off x="822960" y="306324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737373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01</a:t>
            </a:r>
            <a:endParaRPr lang="en-US" sz="14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10" name="Text 8"/>
          <p:cNvSpPr/>
          <p:nvPr/>
        </p:nvSpPr>
        <p:spPr>
          <a:xfrm>
            <a:off x="822960" y="3429000"/>
            <a:ext cx="4617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A0A0A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흩어진 고객 데이터</a:t>
            </a:r>
            <a:endParaRPr lang="en-US" sz="20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11" name="Text 9"/>
          <p:cNvSpPr/>
          <p:nvPr/>
        </p:nvSpPr>
        <p:spPr>
          <a:xfrm>
            <a:off x="822960" y="3931920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25252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엑셀 · 자사몰 · CRM — 한 곳에서 보지 못함</a:t>
            </a:r>
            <a:endParaRPr lang="en-US" sz="13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6263640" y="2834640"/>
            <a:ext cx="5349240" cy="164592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ko-KR" altLang="en-US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6629400" y="306324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737373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02</a:t>
            </a:r>
            <a:endParaRPr lang="en-US" sz="14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6629400" y="3429000"/>
            <a:ext cx="4617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A0A0A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여러 발송 도구의 분산</a:t>
            </a:r>
            <a:endParaRPr lang="en-US" sz="20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6629400" y="3931920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25252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SMS · 알림톡 · Email 각각 다른 시스템</a:t>
            </a:r>
            <a:endParaRPr lang="en-US" sz="13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457200" y="4754880"/>
            <a:ext cx="5349240" cy="164592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ko-KR" altLang="en-US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822960" y="498348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737373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03</a:t>
            </a:r>
            <a:endParaRPr lang="en-US" sz="14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822960" y="5349240"/>
            <a:ext cx="4617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A0A0A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복잡한 캠페인 세팅</a:t>
            </a:r>
            <a:endParaRPr lang="en-US" sz="20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822960" y="5852160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25252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타겟 · 메시지 · 시점 · 비용 검토 부담</a:t>
            </a:r>
            <a:endParaRPr lang="en-US" sz="13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6263640" y="4754880"/>
            <a:ext cx="5349240" cy="164592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ko-KR" altLang="en-US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6629400" y="498348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737373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04</a:t>
            </a:r>
            <a:endParaRPr lang="en-US" sz="14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6629400" y="5349240"/>
            <a:ext cx="4617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A0A0A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광고 · 법규 검토 부담</a:t>
            </a:r>
            <a:endParaRPr lang="en-US" sz="20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6629400" y="5852160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25252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(광고) 표기 · 080 수신거부 · 발송 시간 · 스팸</a:t>
            </a:r>
            <a:endParaRPr lang="en-US" sz="13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457200" y="6446520"/>
            <a:ext cx="1124712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37373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hanjul.ai</a:t>
            </a:r>
            <a:endParaRPr lang="en-US" sz="10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6400800" y="653796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kern="0" spc="200" dirty="0">
                <a:solidFill>
                  <a:srgbClr val="737373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02 / 16</a:t>
            </a:r>
            <a:endParaRPr lang="en-US" sz="10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4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3" name="Text 1"/>
          <p:cNvSpPr/>
          <p:nvPr/>
        </p:nvSpPr>
        <p:spPr>
          <a:xfrm>
            <a:off x="7315200" y="32004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kern="0" spc="200" dirty="0">
                <a:solidFill>
                  <a:srgbClr val="737373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TargetUp</a:t>
            </a:r>
            <a:endParaRPr lang="en-US" sz="11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7200" y="777240"/>
            <a:ext cx="1124712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118872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0A0A0A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한줄로의 답</a:t>
            </a:r>
            <a:endParaRPr lang="en-US" sz="38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2011680"/>
            <a:ext cx="548640" cy="73152"/>
          </a:xfrm>
          <a:prstGeom prst="rect">
            <a:avLst/>
          </a:prstGeom>
          <a:solidFill>
            <a:srgbClr val="0A0A0A"/>
          </a:solidFill>
          <a:ln/>
        </p:spPr>
        <p:txBody>
          <a:bodyPr/>
          <a:lstStyle/>
          <a:p>
            <a:endParaRPr lang="ko-KR" altLang="en-US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25252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한국 마케팅 자동화의 새로운 기준</a:t>
            </a:r>
            <a:endParaRPr lang="en-US" sz="14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8" name="Shape 6"/>
          <p:cNvSpPr/>
          <p:nvPr/>
        </p:nvSpPr>
        <p:spPr>
          <a:xfrm>
            <a:off x="502920" y="2743200"/>
            <a:ext cx="269748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4D4"/>
            </a:solidFill>
            <a:prstDash val="solid"/>
          </a:ln>
        </p:spPr>
        <p:txBody>
          <a:bodyPr/>
          <a:lstStyle/>
          <a:p>
            <a:endParaRPr lang="ko-KR" altLang="en-US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9" name="Text 7"/>
          <p:cNvSpPr/>
          <p:nvPr/>
        </p:nvSpPr>
        <p:spPr>
          <a:xfrm>
            <a:off x="777240" y="3017520"/>
            <a:ext cx="2148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400" b="1" dirty="0">
                <a:solidFill>
                  <a:srgbClr val="0A0A0A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01</a:t>
            </a:r>
            <a:endParaRPr lang="en-US" sz="64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777240" y="4206240"/>
            <a:ext cx="457200" cy="73152"/>
          </a:xfrm>
          <a:prstGeom prst="rect">
            <a:avLst/>
          </a:prstGeom>
          <a:solidFill>
            <a:srgbClr val="0A0A0A"/>
          </a:solidFill>
          <a:ln/>
        </p:spPr>
        <p:txBody>
          <a:bodyPr/>
          <a:lstStyle/>
          <a:p>
            <a:endParaRPr lang="ko-KR" altLang="en-US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11" name="Text 9"/>
          <p:cNvSpPr/>
          <p:nvPr/>
        </p:nvSpPr>
        <p:spPr>
          <a:xfrm>
            <a:off x="777240" y="443484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A0A0A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모든 채널 한 곳</a:t>
            </a:r>
            <a:endParaRPr lang="en-US" sz="18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777240" y="5029200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25252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SMS · LMS · MMS · 알림톡 · Email · Push 통합</a:t>
            </a:r>
            <a:endParaRPr lang="en-US" sz="12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3337560" y="2743200"/>
            <a:ext cx="269748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4D4"/>
            </a:solidFill>
            <a:prstDash val="solid"/>
          </a:ln>
        </p:spPr>
        <p:txBody>
          <a:bodyPr/>
          <a:lstStyle/>
          <a:p>
            <a:endParaRPr lang="ko-KR" altLang="en-US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3611880" y="3017520"/>
            <a:ext cx="2148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400" b="1" dirty="0">
                <a:solidFill>
                  <a:srgbClr val="0A0A0A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02</a:t>
            </a:r>
            <a:endParaRPr lang="en-US" sz="64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3611880" y="4206240"/>
            <a:ext cx="457200" cy="73152"/>
          </a:xfrm>
          <a:prstGeom prst="rect">
            <a:avLst/>
          </a:prstGeom>
          <a:solidFill>
            <a:srgbClr val="0A0A0A"/>
          </a:solidFill>
          <a:ln/>
        </p:spPr>
        <p:txBody>
          <a:bodyPr/>
          <a:lstStyle/>
          <a:p>
            <a:endParaRPr lang="ko-KR" altLang="en-US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3611880" y="443484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A0A0A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한국 통신 100%</a:t>
            </a:r>
            <a:endParaRPr lang="en-US" sz="18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3611880" y="5029200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25252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정보통신망법 · </a:t>
            </a:r>
          </a:p>
          <a:p>
            <a:pPr marL="0" indent="0">
              <a:buNone/>
            </a:pPr>
            <a:r>
              <a:rPr lang="en-US" sz="1200" dirty="0" err="1">
                <a:solidFill>
                  <a:srgbClr val="525252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통신사</a:t>
            </a:r>
            <a:r>
              <a:rPr lang="en-US" sz="1200" dirty="0">
                <a:solidFill>
                  <a:srgbClr val="525252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 표준 자동 준수</a:t>
            </a:r>
            <a:endParaRPr lang="en-US" sz="12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6172200" y="2743200"/>
            <a:ext cx="269748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4D4"/>
            </a:solidFill>
            <a:prstDash val="solid"/>
          </a:ln>
        </p:spPr>
        <p:txBody>
          <a:bodyPr/>
          <a:lstStyle/>
          <a:p>
            <a:endParaRPr lang="ko-KR" altLang="en-US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6446520" y="3017520"/>
            <a:ext cx="2148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400" b="1" dirty="0">
                <a:solidFill>
                  <a:srgbClr val="0A0A0A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03</a:t>
            </a:r>
            <a:endParaRPr lang="en-US" sz="64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6446520" y="4206240"/>
            <a:ext cx="457200" cy="73152"/>
          </a:xfrm>
          <a:prstGeom prst="rect">
            <a:avLst/>
          </a:prstGeom>
          <a:solidFill>
            <a:srgbClr val="0A0A0A"/>
          </a:solidFill>
          <a:ln/>
        </p:spPr>
        <p:txBody>
          <a:bodyPr/>
          <a:lstStyle/>
          <a:p>
            <a:endParaRPr lang="ko-KR" altLang="en-US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6446520" y="443484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A0A0A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학습하는 AI</a:t>
            </a:r>
            <a:endParaRPr lang="en-US" sz="18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6446520" y="5029200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25252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사용할수록 브랜드 </a:t>
            </a:r>
            <a:r>
              <a:rPr lang="en-US" sz="1200" dirty="0" err="1">
                <a:solidFill>
                  <a:srgbClr val="525252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톤이</a:t>
            </a:r>
            <a:r>
              <a:rPr lang="en-US" sz="1200" dirty="0">
                <a:solidFill>
                  <a:srgbClr val="525252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 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525252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더 정확해집니다</a:t>
            </a:r>
            <a:endParaRPr lang="en-US" sz="12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9006840" y="2743200"/>
            <a:ext cx="269748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4D4"/>
            </a:solidFill>
            <a:prstDash val="solid"/>
          </a:ln>
        </p:spPr>
        <p:txBody>
          <a:bodyPr/>
          <a:lstStyle/>
          <a:p>
            <a:endParaRPr lang="ko-KR" altLang="en-US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9281160" y="3017520"/>
            <a:ext cx="2148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400" b="1" dirty="0">
                <a:solidFill>
                  <a:srgbClr val="0A0A0A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04</a:t>
            </a:r>
            <a:endParaRPr lang="en-US" sz="64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9281160" y="4206240"/>
            <a:ext cx="457200" cy="73152"/>
          </a:xfrm>
          <a:prstGeom prst="rect">
            <a:avLst/>
          </a:prstGeom>
          <a:solidFill>
            <a:srgbClr val="0A0A0A"/>
          </a:solidFill>
          <a:ln/>
        </p:spPr>
        <p:txBody>
          <a:bodyPr/>
          <a:lstStyle/>
          <a:p>
            <a:endParaRPr lang="ko-KR" altLang="en-US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9281160" y="443484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A0A0A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즉시 시작</a:t>
            </a:r>
            <a:endParaRPr lang="en-US" sz="18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9281160" y="5029200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25252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시스템 구축 없이 1분 안 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525252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첫 캠페인 발송</a:t>
            </a:r>
            <a:endParaRPr lang="en-US" sz="12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457200" y="6446520"/>
            <a:ext cx="1124712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37373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hanjul.ai</a:t>
            </a:r>
            <a:endParaRPr lang="en-US" sz="10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6400800" y="653796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kern="0" spc="200" dirty="0">
                <a:solidFill>
                  <a:srgbClr val="737373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03 / 16</a:t>
            </a:r>
            <a:endParaRPr lang="en-US" sz="10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31" name="Text 0">
            <a:extLst>
              <a:ext uri="{FF2B5EF4-FFF2-40B4-BE49-F238E27FC236}">
                <a16:creationId xmlns:a16="http://schemas.microsoft.com/office/drawing/2014/main" id="{42B17C2B-18C8-5358-E8AD-A6740BCB908B}"/>
              </a:ext>
            </a:extLst>
          </p:cNvPr>
          <p:cNvSpPr/>
          <p:nvPr/>
        </p:nvSpPr>
        <p:spPr>
          <a:xfrm>
            <a:off x="487680" y="3657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400" b="1" kern="0" spc="100" dirty="0" err="1">
                <a:solidFill>
                  <a:srgbClr val="171717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한줄로</a:t>
            </a:r>
            <a:r>
              <a:rPr lang="en-US" altLang="ko-KR" sz="1400" b="1" kern="0" spc="100" dirty="0">
                <a:solidFill>
                  <a:srgbClr val="171717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_</a:t>
            </a:r>
            <a:endParaRPr lang="en-US" sz="14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400" b="1" kern="0" spc="100" dirty="0" err="1">
                <a:solidFill>
                  <a:srgbClr val="171717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한줄로</a:t>
            </a:r>
            <a:r>
              <a:rPr lang="en-US" altLang="ko-KR" sz="1400" b="1" kern="0" spc="100" dirty="0">
                <a:solidFill>
                  <a:srgbClr val="171717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_</a:t>
            </a:r>
            <a:endParaRPr lang="en-US" sz="14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3" name="Text 1"/>
          <p:cNvSpPr/>
          <p:nvPr/>
        </p:nvSpPr>
        <p:spPr>
          <a:xfrm>
            <a:off x="7315200" y="32004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kern="0" spc="200" dirty="0">
                <a:solidFill>
                  <a:srgbClr val="737373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TargetUp</a:t>
            </a:r>
            <a:endParaRPr lang="en-US" sz="11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7200" y="777240"/>
            <a:ext cx="1124712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118872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0A0A0A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전체 서비스 한눈에</a:t>
            </a:r>
            <a:endParaRPr lang="en-US" sz="38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2011680"/>
            <a:ext cx="548640" cy="73152"/>
          </a:xfrm>
          <a:prstGeom prst="rect">
            <a:avLst/>
          </a:prstGeom>
          <a:solidFill>
            <a:srgbClr val="0A0A0A"/>
          </a:solidFill>
          <a:ln/>
        </p:spPr>
        <p:txBody>
          <a:bodyPr/>
          <a:lstStyle/>
          <a:p>
            <a:endParaRPr lang="ko-KR" altLang="en-US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25252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발송 · 데이터 · AI · 자동화 · 안전 · 운영</a:t>
            </a:r>
            <a:endParaRPr lang="en-US" sz="14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8" name="Shape 6"/>
          <p:cNvSpPr/>
          <p:nvPr/>
        </p:nvSpPr>
        <p:spPr>
          <a:xfrm>
            <a:off x="457200" y="2743200"/>
            <a:ext cx="3657600" cy="182880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ko-KR" altLang="en-US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9" name="Text 7"/>
          <p:cNvSpPr/>
          <p:nvPr/>
        </p:nvSpPr>
        <p:spPr>
          <a:xfrm>
            <a:off x="731520" y="297180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737373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01</a:t>
            </a:r>
            <a:endParaRPr lang="en-US" sz="12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10" name="Text 8"/>
          <p:cNvSpPr/>
          <p:nvPr/>
        </p:nvSpPr>
        <p:spPr>
          <a:xfrm>
            <a:off x="731520" y="333756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A0A0A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발송 채널</a:t>
            </a:r>
            <a:endParaRPr lang="en-US" sz="18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731520" y="3794760"/>
            <a:ext cx="365760" cy="45720"/>
          </a:xfrm>
          <a:prstGeom prst="rect">
            <a:avLst/>
          </a:prstGeom>
          <a:solidFill>
            <a:srgbClr val="0A0A0A"/>
          </a:solidFill>
          <a:ln/>
        </p:spPr>
        <p:txBody>
          <a:bodyPr/>
          <a:lstStyle/>
          <a:p>
            <a:endParaRPr lang="ko-KR" altLang="en-US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731520" y="393192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25252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SMS · LMS · MMS · 알림톡 · 친구톡 · Email · Web Push · In-app</a:t>
            </a:r>
            <a:endParaRPr lang="en-US" sz="11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4251960" y="2743200"/>
            <a:ext cx="3657600" cy="182880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ko-KR" altLang="en-US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4526280" y="297180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737373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02</a:t>
            </a:r>
            <a:endParaRPr lang="en-US" sz="12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4526280" y="333756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A0A0A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고객 데이터</a:t>
            </a:r>
            <a:endParaRPr lang="en-US" sz="18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4526280" y="3794760"/>
            <a:ext cx="365760" cy="45720"/>
          </a:xfrm>
          <a:prstGeom prst="rect">
            <a:avLst/>
          </a:prstGeom>
          <a:solidFill>
            <a:srgbClr val="0A0A0A"/>
          </a:solidFill>
          <a:ln/>
        </p:spPr>
        <p:txBody>
          <a:bodyPr/>
          <a:lstStyle/>
          <a:p>
            <a:endParaRPr lang="ko-KR" altLang="en-US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4526280" y="393192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25252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고객 DB · 주소록 · 자사몰 연동 · 엑셀 자동 매핑 · </a:t>
            </a:r>
          </a:p>
          <a:p>
            <a:pPr marL="0" indent="0">
              <a:buNone/>
            </a:pPr>
            <a:r>
              <a:rPr lang="en-US" sz="1100" dirty="0" err="1">
                <a:solidFill>
                  <a:srgbClr val="525252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실시간</a:t>
            </a:r>
            <a:r>
              <a:rPr lang="en-US" sz="1100" dirty="0">
                <a:solidFill>
                  <a:srgbClr val="525252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 행동</a:t>
            </a:r>
            <a:endParaRPr lang="en-US" sz="11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8046720" y="2743200"/>
            <a:ext cx="3657600" cy="182880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ko-KR" altLang="en-US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8321040" y="297180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737373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03</a:t>
            </a:r>
            <a:endParaRPr lang="en-US" sz="12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8321040" y="333756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A0A0A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AI 자동화</a:t>
            </a:r>
            <a:endParaRPr lang="en-US" sz="18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8321040" y="3794760"/>
            <a:ext cx="365760" cy="45720"/>
          </a:xfrm>
          <a:prstGeom prst="rect">
            <a:avLst/>
          </a:prstGeom>
          <a:solidFill>
            <a:srgbClr val="0A0A0A"/>
          </a:solidFill>
          <a:ln/>
        </p:spPr>
        <p:txBody>
          <a:bodyPr/>
          <a:lstStyle/>
          <a:p>
            <a:endParaRPr lang="ko-KR" altLang="en-US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8321040" y="393192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25252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AI 메시지 · AI 타겟 · AI Operator · 여정 자동화 · </a:t>
            </a:r>
          </a:p>
          <a:p>
            <a:pPr marL="0" indent="0">
              <a:buNone/>
            </a:pPr>
            <a:r>
              <a:rPr lang="en-US" sz="1100" dirty="0" err="1">
                <a:solidFill>
                  <a:srgbClr val="525252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영구</a:t>
            </a:r>
            <a:r>
              <a:rPr lang="en-US" sz="1100" dirty="0">
                <a:solidFill>
                  <a:srgbClr val="525252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 운영</a:t>
            </a:r>
            <a:endParaRPr lang="en-US" sz="11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457200" y="4754880"/>
            <a:ext cx="3657600" cy="182880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ko-KR" altLang="en-US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731520" y="49834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737373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04</a:t>
            </a:r>
            <a:endParaRPr lang="en-US" sz="12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731520" y="53492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A0A0A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자동 발송</a:t>
            </a:r>
            <a:endParaRPr lang="en-US" sz="18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731520" y="5806440"/>
            <a:ext cx="365760" cy="45720"/>
          </a:xfrm>
          <a:prstGeom prst="rect">
            <a:avLst/>
          </a:prstGeom>
          <a:solidFill>
            <a:srgbClr val="0A0A0A"/>
          </a:solidFill>
          <a:ln/>
        </p:spPr>
        <p:txBody>
          <a:bodyPr/>
          <a:lstStyle/>
          <a:p>
            <a:endParaRPr lang="ko-KR" altLang="en-US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731520" y="594360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25252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예약 발송 · 정기 발송 · 트리거 발송 · 모바일 DM 빌더</a:t>
            </a:r>
            <a:endParaRPr lang="en-US" sz="11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4251960" y="4754880"/>
            <a:ext cx="3657600" cy="182880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ko-KR" altLang="en-US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4526280" y="49834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737373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05</a:t>
            </a:r>
            <a:endParaRPr lang="en-US" sz="12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4526280" y="53492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A0A0A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4중 안전망</a:t>
            </a:r>
            <a:endParaRPr lang="en-US" sz="18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4526280" y="5806440"/>
            <a:ext cx="365760" cy="45720"/>
          </a:xfrm>
          <a:prstGeom prst="rect">
            <a:avLst/>
          </a:prstGeom>
          <a:solidFill>
            <a:srgbClr val="0A0A0A"/>
          </a:solidFill>
          <a:ln/>
        </p:spPr>
        <p:txBody>
          <a:bodyPr/>
          <a:lstStyle/>
          <a:p>
            <a:endParaRPr lang="ko-KR" altLang="en-US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4526280" y="594360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25252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광고 표기 · 080 수신거부 · 발송 시간 · KISA 제목 · 스팸 검수</a:t>
            </a:r>
            <a:endParaRPr lang="en-US" sz="11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8046720" y="4754880"/>
            <a:ext cx="3657600" cy="182880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ko-KR" altLang="en-US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8321040" y="49834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737373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06</a:t>
            </a:r>
            <a:endParaRPr lang="en-US" sz="12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8321040" y="53492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A0A0A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운영 + 학습</a:t>
            </a:r>
            <a:endParaRPr lang="en-US" sz="18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8321040" y="5806440"/>
            <a:ext cx="365760" cy="45720"/>
          </a:xfrm>
          <a:prstGeom prst="rect">
            <a:avLst/>
          </a:prstGeom>
          <a:solidFill>
            <a:srgbClr val="0A0A0A"/>
          </a:solidFill>
          <a:ln/>
        </p:spPr>
        <p:txBody>
          <a:bodyPr/>
          <a:lstStyle/>
          <a:p>
            <a:endParaRPr lang="ko-KR" altLang="en-US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8321040" y="594360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25252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성과 리포트 · 채널별 매트릭스 · 다음 액션 추천 · 톤 학습</a:t>
            </a:r>
            <a:endParaRPr lang="en-US" sz="11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38" name="Shape 36"/>
          <p:cNvSpPr/>
          <p:nvPr/>
        </p:nvSpPr>
        <p:spPr>
          <a:xfrm>
            <a:off x="457200" y="6446520"/>
            <a:ext cx="1124712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37373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hanjul.ai</a:t>
            </a:r>
            <a:endParaRPr lang="en-US" sz="10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40" name="Text 38"/>
          <p:cNvSpPr/>
          <p:nvPr/>
        </p:nvSpPr>
        <p:spPr>
          <a:xfrm>
            <a:off x="6400800" y="653796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kern="0" spc="200" dirty="0">
                <a:solidFill>
                  <a:srgbClr val="737373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04 / 16</a:t>
            </a:r>
            <a:endParaRPr lang="en-US" sz="10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400" b="1" kern="0" spc="100" dirty="0" err="1">
                <a:solidFill>
                  <a:srgbClr val="17171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한줄로</a:t>
            </a:r>
            <a:r>
              <a:rPr lang="en-US" altLang="ko-KR" sz="1400" b="1" kern="0" spc="100" dirty="0">
                <a:solidFill>
                  <a:srgbClr val="17171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_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0" y="32004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kern="0" spc="200" dirty="0">
                <a:solidFill>
                  <a:srgbClr val="7373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TargetUp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57200" y="777240"/>
            <a:ext cx="1124712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/>
          <p:nvPr/>
        </p:nvSpPr>
        <p:spPr>
          <a:xfrm>
            <a:off x="457200" y="118872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발송 채널</a:t>
            </a:r>
            <a:endParaRPr lang="en-US" sz="3800" dirty="0"/>
          </a:p>
        </p:txBody>
      </p:sp>
      <p:sp>
        <p:nvSpPr>
          <p:cNvPr id="6" name="Shape 4"/>
          <p:cNvSpPr/>
          <p:nvPr/>
        </p:nvSpPr>
        <p:spPr>
          <a:xfrm>
            <a:off x="457200" y="2011680"/>
            <a:ext cx="548640" cy="73152"/>
          </a:xfrm>
          <a:prstGeom prst="rect">
            <a:avLst/>
          </a:prstGeom>
          <a:solidFill>
            <a:srgbClr val="0A0A0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2525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국내외 8개 채널을 한 곳에서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2743200"/>
            <a:ext cx="274320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4D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685800" y="292608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SMS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85800" y="3383280"/>
            <a:ext cx="274320" cy="36576"/>
          </a:xfrm>
          <a:prstGeom prst="rect">
            <a:avLst/>
          </a:prstGeom>
          <a:solidFill>
            <a:srgbClr val="0A0A0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685800" y="34747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6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90 bytes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85800" y="37490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373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단문 · 짧고 빠른 안내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337560" y="2743200"/>
            <a:ext cx="274320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4D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3566160" y="292608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LMS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3566160" y="3383280"/>
            <a:ext cx="274320" cy="36576"/>
          </a:xfrm>
          <a:prstGeom prst="rect">
            <a:avLst/>
          </a:prstGeom>
          <a:solidFill>
            <a:srgbClr val="0A0A0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3566160" y="34747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6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2,000 bytes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566160" y="37490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373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장문 · 풍성한 본문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217920" y="2743200"/>
            <a:ext cx="274320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4D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/>
          <p:nvPr/>
        </p:nvSpPr>
        <p:spPr>
          <a:xfrm>
            <a:off x="6446520" y="292608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MMS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6446520" y="3383280"/>
            <a:ext cx="274320" cy="36576"/>
          </a:xfrm>
          <a:prstGeom prst="rect">
            <a:avLst/>
          </a:prstGeom>
          <a:solidFill>
            <a:srgbClr val="0A0A0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/>
          <p:nvPr/>
        </p:nvSpPr>
        <p:spPr>
          <a:xfrm>
            <a:off x="6446520" y="34747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6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2,000 + 이미지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446520" y="37490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373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이미지 첨부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9098280" y="2743200"/>
            <a:ext cx="274320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4D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2"/>
          <p:cNvSpPr/>
          <p:nvPr/>
        </p:nvSpPr>
        <p:spPr>
          <a:xfrm>
            <a:off x="9326880" y="292608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카카오 알림톡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9326880" y="3383280"/>
            <a:ext cx="274320" cy="36576"/>
          </a:xfrm>
          <a:prstGeom prst="rect">
            <a:avLst/>
          </a:prstGeom>
          <a:solidFill>
            <a:srgbClr val="0A0A0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4"/>
          <p:cNvSpPr/>
          <p:nvPr/>
        </p:nvSpPr>
        <p:spPr>
          <a:xfrm>
            <a:off x="9326880" y="34747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6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검수 템플릿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326880" y="37490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373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안내 · 본인 인증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57200" y="4343400"/>
            <a:ext cx="274320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4D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7"/>
          <p:cNvSpPr/>
          <p:nvPr/>
        </p:nvSpPr>
        <p:spPr>
          <a:xfrm>
            <a:off x="685800" y="452628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카카오 친구톡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685800" y="4983480"/>
            <a:ext cx="274320" cy="36576"/>
          </a:xfrm>
          <a:prstGeom prst="rect">
            <a:avLst/>
          </a:prstGeom>
          <a:solidFill>
            <a:srgbClr val="0A0A0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9"/>
          <p:cNvSpPr/>
          <p:nvPr/>
        </p:nvSpPr>
        <p:spPr>
          <a:xfrm>
            <a:off x="685800" y="50749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6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자유 본문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85800" y="53492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373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플러스 친구 마케팅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3337560" y="4343400"/>
            <a:ext cx="274320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4D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Text 32"/>
          <p:cNvSpPr/>
          <p:nvPr/>
        </p:nvSpPr>
        <p:spPr>
          <a:xfrm>
            <a:off x="3566160" y="452628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Email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3566160" y="4983480"/>
            <a:ext cx="274320" cy="36576"/>
          </a:xfrm>
          <a:prstGeom prst="rect">
            <a:avLst/>
          </a:prstGeom>
          <a:solidFill>
            <a:srgbClr val="0A0A0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6" name="Text 34"/>
          <p:cNvSpPr/>
          <p:nvPr/>
        </p:nvSpPr>
        <p:spPr>
          <a:xfrm>
            <a:off x="3566160" y="50749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6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글로벌 표준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3566160" y="53492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373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뉴스레터 · 거래 메일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217920" y="4343400"/>
            <a:ext cx="274320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4D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Text 37"/>
          <p:cNvSpPr/>
          <p:nvPr/>
        </p:nvSpPr>
        <p:spPr>
          <a:xfrm>
            <a:off x="6446520" y="452628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Web Push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446520" y="4983480"/>
            <a:ext cx="274320" cy="36576"/>
          </a:xfrm>
          <a:prstGeom prst="rect">
            <a:avLst/>
          </a:prstGeom>
          <a:solidFill>
            <a:srgbClr val="0A0A0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9"/>
          <p:cNvSpPr/>
          <p:nvPr/>
        </p:nvSpPr>
        <p:spPr>
          <a:xfrm>
            <a:off x="6446520" y="50749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6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PC · 모바일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6446520" y="53492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373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브라우저 푸시 알림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9098280" y="4343400"/>
            <a:ext cx="274320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4D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4" name="Text 42"/>
          <p:cNvSpPr/>
          <p:nvPr/>
        </p:nvSpPr>
        <p:spPr>
          <a:xfrm>
            <a:off x="9326880" y="452628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In-app 메시지</a:t>
            </a:r>
            <a:endParaRPr lang="en-US" sz="1600" dirty="0"/>
          </a:p>
        </p:txBody>
      </p:sp>
      <p:sp>
        <p:nvSpPr>
          <p:cNvPr id="45" name="Shape 43"/>
          <p:cNvSpPr/>
          <p:nvPr/>
        </p:nvSpPr>
        <p:spPr>
          <a:xfrm>
            <a:off x="9326880" y="4983480"/>
            <a:ext cx="274320" cy="36576"/>
          </a:xfrm>
          <a:prstGeom prst="rect">
            <a:avLst/>
          </a:prstGeom>
          <a:solidFill>
            <a:srgbClr val="0A0A0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6" name="Text 44"/>
          <p:cNvSpPr/>
          <p:nvPr/>
        </p:nvSpPr>
        <p:spPr>
          <a:xfrm>
            <a:off x="9326880" y="50749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6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자사몰 안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9326880" y="53492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373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배너 · 모달 · 팝업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457200" y="598932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52525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통합 발송 결과 — 채널별 도달률 · 성공률 · 비용 한눈에</a:t>
            </a:r>
            <a:endParaRPr lang="en-US" sz="1300" dirty="0"/>
          </a:p>
        </p:txBody>
      </p:sp>
      <p:sp>
        <p:nvSpPr>
          <p:cNvPr id="49" name="Shape 47"/>
          <p:cNvSpPr/>
          <p:nvPr/>
        </p:nvSpPr>
        <p:spPr>
          <a:xfrm>
            <a:off x="457200" y="6446520"/>
            <a:ext cx="1124712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0" name="Text 48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373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hanjul.ai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6400800" y="653796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kern="0" spc="200" dirty="0">
                <a:solidFill>
                  <a:srgbClr val="7373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/ 16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400" b="1" kern="0" spc="100" dirty="0" err="1">
                <a:solidFill>
                  <a:srgbClr val="171717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한줄로</a:t>
            </a:r>
            <a:r>
              <a:rPr lang="en-US" altLang="ko-KR" sz="1400" b="1" kern="0" spc="100" dirty="0">
                <a:solidFill>
                  <a:srgbClr val="171717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_</a:t>
            </a:r>
            <a:endParaRPr lang="en-US" sz="14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3" name="Text 1"/>
          <p:cNvSpPr/>
          <p:nvPr/>
        </p:nvSpPr>
        <p:spPr>
          <a:xfrm>
            <a:off x="7315200" y="32004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kern="0" spc="200" dirty="0">
                <a:solidFill>
                  <a:srgbClr val="737373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TargetUp</a:t>
            </a:r>
            <a:endParaRPr lang="en-US" sz="11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7200" y="777240"/>
            <a:ext cx="1124712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118872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0A0A0A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카카오 채널 통합</a:t>
            </a:r>
            <a:endParaRPr lang="en-US" sz="38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2011680"/>
            <a:ext cx="548640" cy="73152"/>
          </a:xfrm>
          <a:prstGeom prst="rect">
            <a:avLst/>
          </a:prstGeom>
          <a:solidFill>
            <a:srgbClr val="0A0A0A"/>
          </a:solidFill>
          <a:ln/>
        </p:spPr>
        <p:txBody>
          <a:bodyPr/>
          <a:lstStyle/>
          <a:p>
            <a:endParaRPr lang="ko-KR" altLang="en-US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25252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알림톡 · 친구톡 · 브랜드메시지</a:t>
            </a:r>
            <a:endParaRPr lang="en-US" sz="14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8" name="Shape 6"/>
          <p:cNvSpPr/>
          <p:nvPr/>
        </p:nvSpPr>
        <p:spPr>
          <a:xfrm>
            <a:off x="548640" y="3337560"/>
            <a:ext cx="5486400" cy="105156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ko-KR" altLang="en-US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9" name="Text 7"/>
          <p:cNvSpPr/>
          <p:nvPr/>
        </p:nvSpPr>
        <p:spPr>
          <a:xfrm>
            <a:off x="822960" y="35204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A0A0A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알림톡</a:t>
            </a:r>
            <a:endParaRPr lang="en-US" sz="22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3291840" y="3611880"/>
            <a:ext cx="1280160" cy="274320"/>
          </a:xfrm>
          <a:prstGeom prst="rect">
            <a:avLst/>
          </a:prstGeom>
          <a:solidFill>
            <a:srgbClr val="0A0A0A"/>
          </a:solidFill>
          <a:ln/>
        </p:spPr>
        <p:txBody>
          <a:bodyPr/>
          <a:lstStyle/>
          <a:p>
            <a:endParaRPr lang="ko-KR" altLang="en-US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11" name="Text 9"/>
          <p:cNvSpPr/>
          <p:nvPr/>
        </p:nvSpPr>
        <p:spPr>
          <a:xfrm>
            <a:off x="3291840" y="361188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거래 안내</a:t>
            </a:r>
            <a:endParaRPr lang="en-US" sz="10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822960" y="39776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25252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주문 · 배송 · 결제 · 본인 인증 — 검수 통과 템플릿</a:t>
            </a:r>
            <a:endParaRPr lang="en-US" sz="12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548640" y="4631436"/>
            <a:ext cx="5486400" cy="105156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ko-KR" altLang="en-US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822960" y="4814316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A0A0A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브랜드메시지</a:t>
            </a:r>
            <a:endParaRPr lang="en-US" sz="22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3291840" y="4905756"/>
            <a:ext cx="1280160" cy="274320"/>
          </a:xfrm>
          <a:prstGeom prst="rect">
            <a:avLst/>
          </a:prstGeom>
          <a:solidFill>
            <a:srgbClr val="0A0A0A"/>
          </a:solidFill>
          <a:ln/>
        </p:spPr>
        <p:txBody>
          <a:bodyPr/>
          <a:lstStyle/>
          <a:p>
            <a:endParaRPr lang="ko-KR" altLang="en-US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3291840" y="4905756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빠른 발송</a:t>
            </a:r>
            <a:endParaRPr lang="en-US" sz="10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822960" y="5271516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25252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검수 없이 빠른 발송 — 자체 브랜드 채널</a:t>
            </a:r>
            <a:endParaRPr lang="en-US" sz="12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6217920" y="2743200"/>
            <a:ext cx="5486400" cy="3566160"/>
          </a:xfrm>
          <a:prstGeom prst="rect">
            <a:avLst/>
          </a:prstGeom>
          <a:solidFill>
            <a:srgbClr val="0A0A0A"/>
          </a:solidFill>
          <a:ln/>
        </p:spPr>
        <p:txBody>
          <a:bodyPr/>
          <a:lstStyle/>
          <a:p>
            <a:endParaRPr lang="ko-KR" altLang="en-US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6400800" y="288036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통합 운영</a:t>
            </a:r>
            <a:endParaRPr lang="en-US" sz="20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6400800" y="3337560"/>
            <a:ext cx="457200" cy="54864"/>
          </a:xfrm>
          <a:prstGeom prst="rect">
            <a:avLst/>
          </a:prstGeom>
          <a:solidFill>
            <a:srgbClr val="C7F284"/>
          </a:solidFill>
          <a:ln/>
        </p:spPr>
        <p:txBody>
          <a:bodyPr/>
          <a:lstStyle/>
          <a:p>
            <a:endParaRPr lang="ko-KR" altLang="en-US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6400800" y="35661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A3A3A3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01</a:t>
            </a:r>
            <a:endParaRPr lang="en-US" sz="12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7040880" y="35204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발신 프로필 관리</a:t>
            </a:r>
            <a:endParaRPr lang="en-US" sz="14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7040880" y="385876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4D4D4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카카오 검수 통과 발신 프로필 통합</a:t>
            </a:r>
            <a:endParaRPr lang="en-US" sz="11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6400800" y="422452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A3A3A3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02</a:t>
            </a:r>
            <a:endParaRPr lang="en-US" sz="12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7040880" y="417880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템플릿 검수 추적</a:t>
            </a:r>
            <a:endParaRPr lang="en-US" sz="14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7040880" y="451713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4D4D4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카카오 검수 상태 실시간 추적 · 알림</a:t>
            </a:r>
            <a:endParaRPr lang="en-US" sz="11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6400800" y="488289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A3A3A3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03</a:t>
            </a:r>
            <a:endParaRPr lang="en-US" sz="12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7040880" y="483717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카테고리 자동 매핑</a:t>
            </a:r>
            <a:endParaRPr lang="en-US" sz="14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7040880" y="5175504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4D4D4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템플릿 카테고리 6자리 자동 분류</a:t>
            </a:r>
            <a:endParaRPr lang="en-US" sz="11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6400800" y="5541264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A3A3A3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04</a:t>
            </a:r>
            <a:endParaRPr lang="en-US" sz="12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7040880" y="5495544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미전송 자동 대비</a:t>
            </a:r>
            <a:endParaRPr lang="en-US" sz="14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7040880" y="583387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4D4D4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알림톡 실패 시 SMS · LMS 자동 폴백</a:t>
            </a:r>
            <a:endParaRPr lang="en-US" sz="11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38" name="Shape 36"/>
          <p:cNvSpPr/>
          <p:nvPr/>
        </p:nvSpPr>
        <p:spPr>
          <a:xfrm>
            <a:off x="457200" y="6446520"/>
            <a:ext cx="1124712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548640" y="604875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37373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hanjul.ai</a:t>
            </a:r>
            <a:endParaRPr lang="en-US" sz="10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40" name="Text 38"/>
          <p:cNvSpPr/>
          <p:nvPr/>
        </p:nvSpPr>
        <p:spPr>
          <a:xfrm>
            <a:off x="6400800" y="653796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kern="0" spc="200" dirty="0">
                <a:solidFill>
                  <a:srgbClr val="737373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06 / 16</a:t>
            </a:r>
            <a:endParaRPr lang="en-US" sz="10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400" b="1" kern="0" spc="100" dirty="0" err="1">
                <a:solidFill>
                  <a:srgbClr val="171717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한줄로</a:t>
            </a:r>
            <a:r>
              <a:rPr lang="en-US" altLang="ko-KR" sz="1400" b="1" kern="0" spc="100" dirty="0">
                <a:solidFill>
                  <a:srgbClr val="171717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_</a:t>
            </a:r>
            <a:endParaRPr lang="en-US" sz="14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3" name="Text 1"/>
          <p:cNvSpPr/>
          <p:nvPr/>
        </p:nvSpPr>
        <p:spPr>
          <a:xfrm>
            <a:off x="7315200" y="32004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kern="0" spc="200" dirty="0">
                <a:solidFill>
                  <a:srgbClr val="737373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TargetUp</a:t>
            </a:r>
            <a:endParaRPr lang="en-US" sz="11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7200" y="777240"/>
            <a:ext cx="1124712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118872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0A0A0A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고객 DB · 주소록</a:t>
            </a:r>
            <a:endParaRPr lang="en-US" sz="38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2011680"/>
            <a:ext cx="548640" cy="73152"/>
          </a:xfrm>
          <a:prstGeom prst="rect">
            <a:avLst/>
          </a:prstGeom>
          <a:solidFill>
            <a:srgbClr val="0A0A0A"/>
          </a:solidFill>
          <a:ln/>
        </p:spPr>
        <p:txBody>
          <a:bodyPr/>
          <a:lstStyle/>
          <a:p>
            <a:endParaRPr lang="ko-KR" altLang="en-US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25252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엑셀에서 시작 → 통합 고객 데이터로</a:t>
            </a:r>
            <a:endParaRPr lang="en-US" sz="14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8" name="Shape 6"/>
          <p:cNvSpPr/>
          <p:nvPr/>
        </p:nvSpPr>
        <p:spPr>
          <a:xfrm>
            <a:off x="457200" y="2743200"/>
            <a:ext cx="3657600" cy="128016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ko-KR" altLang="en-US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9" name="Text 7"/>
          <p:cNvSpPr/>
          <p:nvPr/>
        </p:nvSpPr>
        <p:spPr>
          <a:xfrm>
            <a:off x="685800" y="2880360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737373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01</a:t>
            </a:r>
            <a:endParaRPr lang="en-US" sz="12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10" name="Text 8"/>
          <p:cNvSpPr/>
          <p:nvPr/>
        </p:nvSpPr>
        <p:spPr>
          <a:xfrm>
            <a:off x="685800" y="320040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A0A0A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엑셀 자동 매핑</a:t>
            </a:r>
            <a:endParaRPr lang="en-US" sz="16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11" name="Text 9"/>
          <p:cNvSpPr/>
          <p:nvPr/>
        </p:nvSpPr>
        <p:spPr>
          <a:xfrm>
            <a:off x="685800" y="36118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25252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컬럼 자동 인식 — 이름 · 연락처 · 등급 · 생일 · 매장</a:t>
            </a:r>
            <a:endParaRPr lang="en-US" sz="11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4251960" y="2743200"/>
            <a:ext cx="3657600" cy="128016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ko-KR" altLang="en-US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4480560" y="2880360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737373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02</a:t>
            </a:r>
            <a:endParaRPr lang="en-US" sz="12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4480560" y="320040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A0A0A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대량 업로드</a:t>
            </a:r>
            <a:endParaRPr lang="en-US" sz="16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4480560" y="36118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25252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13만+ 고객도 안전하게 — 진행 표시 · 중복 자동 제거</a:t>
            </a:r>
            <a:endParaRPr lang="en-US" sz="11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8046720" y="2743200"/>
            <a:ext cx="3657600" cy="128016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ko-KR" altLang="en-US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8275320" y="2880360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737373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03</a:t>
            </a:r>
            <a:endParaRPr lang="en-US" sz="12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8275320" y="320040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A0A0A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브랜드 격리</a:t>
            </a:r>
            <a:endParaRPr lang="en-US" sz="16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8275320" y="36118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25252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멀티 브랜드 운영 — 매장별 사용자 권한 분리</a:t>
            </a:r>
            <a:endParaRPr lang="en-US" sz="11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457200" y="4206240"/>
            <a:ext cx="3657600" cy="128016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ko-KR" altLang="en-US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685800" y="4343400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737373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04</a:t>
            </a:r>
            <a:endParaRPr lang="en-US" sz="12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685800" y="466344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A0A0A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주소록 그룹</a:t>
            </a:r>
            <a:endParaRPr lang="en-US" sz="16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685800" y="50749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25252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캠페인별 그룹 · 발송 이력 · 등급별 자동 분류</a:t>
            </a:r>
            <a:endParaRPr lang="en-US" sz="11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4251960" y="4206240"/>
            <a:ext cx="3657600" cy="128016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ko-KR" altLang="en-US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4480560" y="4343400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737373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05</a:t>
            </a:r>
            <a:endParaRPr lang="en-US" sz="12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4480560" y="466344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A0A0A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동적 필드</a:t>
            </a:r>
            <a:endParaRPr lang="en-US" sz="16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4480560" y="50749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25252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VIP 등급 · 구매 횟수 · 매장 · 사용자 정의 무제한</a:t>
            </a:r>
            <a:endParaRPr lang="en-US" sz="11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8046720" y="4206240"/>
            <a:ext cx="3657600" cy="128016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ko-KR" altLang="en-US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8275320" y="4343400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737373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06</a:t>
            </a:r>
            <a:endParaRPr lang="en-US" sz="12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8275320" y="466344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A0A0A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수신거부 동기화</a:t>
            </a:r>
            <a:endParaRPr lang="en-US" sz="16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8275320" y="50749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25252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080 수신거부 자동 반영 — 발송 즉시 차단</a:t>
            </a:r>
            <a:endParaRPr lang="en-US" sz="11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457200" y="6446520"/>
            <a:ext cx="1124712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37373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hanjul.ai</a:t>
            </a:r>
            <a:endParaRPr lang="en-US" sz="10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6400800" y="653796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kern="0" spc="200" dirty="0">
                <a:solidFill>
                  <a:srgbClr val="737373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07 / 16</a:t>
            </a:r>
            <a:endParaRPr lang="en-US" sz="10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400" b="1" kern="0" spc="100" dirty="0" err="1">
                <a:solidFill>
                  <a:srgbClr val="171717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한줄로</a:t>
            </a:r>
            <a:r>
              <a:rPr lang="en-US" altLang="ko-KR" sz="1400" b="1" kern="0" spc="100" dirty="0">
                <a:solidFill>
                  <a:srgbClr val="171717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_</a:t>
            </a:r>
            <a:endParaRPr lang="en-US" sz="14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3" name="Text 1"/>
          <p:cNvSpPr/>
          <p:nvPr/>
        </p:nvSpPr>
        <p:spPr>
          <a:xfrm>
            <a:off x="7315200" y="32004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kern="0" spc="200" dirty="0">
                <a:solidFill>
                  <a:srgbClr val="737373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TargetUp</a:t>
            </a:r>
            <a:endParaRPr lang="en-US" sz="11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7200" y="777240"/>
            <a:ext cx="1124712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118872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0A0A0A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발송 방식 3가지</a:t>
            </a:r>
            <a:endParaRPr lang="en-US" sz="38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2011680"/>
            <a:ext cx="548640" cy="73152"/>
          </a:xfrm>
          <a:prstGeom prst="rect">
            <a:avLst/>
          </a:prstGeom>
          <a:solidFill>
            <a:srgbClr val="0A0A0A"/>
          </a:solidFill>
          <a:ln/>
        </p:spPr>
        <p:txBody>
          <a:bodyPr/>
          <a:lstStyle/>
          <a:p>
            <a:endParaRPr lang="ko-KR" altLang="en-US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25252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상황에 맞게 — 즉시 · 필터 · 예약 자동</a:t>
            </a:r>
            <a:endParaRPr lang="en-US" sz="14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8" name="Shape 6"/>
          <p:cNvSpPr/>
          <p:nvPr/>
        </p:nvSpPr>
        <p:spPr>
          <a:xfrm>
            <a:off x="502920" y="2743200"/>
            <a:ext cx="3657600" cy="338328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ko-KR" altLang="en-US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9" name="Text 7"/>
          <p:cNvSpPr/>
          <p:nvPr/>
        </p:nvSpPr>
        <p:spPr>
          <a:xfrm>
            <a:off x="777240" y="30175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737373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01</a:t>
            </a:r>
            <a:endParaRPr lang="en-US" sz="12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10" name="Text 8"/>
          <p:cNvSpPr/>
          <p:nvPr/>
        </p:nvSpPr>
        <p:spPr>
          <a:xfrm>
            <a:off x="777240" y="338328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A0A0A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직접 발송</a:t>
            </a:r>
            <a:endParaRPr lang="en-US" sz="22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11" name="Text 9"/>
          <p:cNvSpPr/>
          <p:nvPr/>
        </p:nvSpPr>
        <p:spPr>
          <a:xfrm>
            <a:off x="777240" y="39319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25252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엑셀 + 즉시 발송</a:t>
            </a:r>
            <a:endParaRPr lang="en-US" sz="12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777240" y="4389120"/>
            <a:ext cx="365760" cy="45720"/>
          </a:xfrm>
          <a:prstGeom prst="rect">
            <a:avLst/>
          </a:prstGeom>
          <a:solidFill>
            <a:srgbClr val="0A0A0A"/>
          </a:solidFill>
          <a:ln/>
        </p:spPr>
        <p:txBody>
          <a:bodyPr/>
          <a:lstStyle/>
          <a:p>
            <a:endParaRPr lang="ko-KR" altLang="en-US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777240" y="4572000"/>
            <a:ext cx="3108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25252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주소록 직접 선택</a:t>
            </a:r>
            <a:endParaRPr lang="en-US" sz="12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25252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엑셀 한 번에 발송</a:t>
            </a:r>
            <a:endParaRPr lang="en-US" sz="12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25252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예약 시점 지정 가능</a:t>
            </a:r>
            <a:endParaRPr lang="en-US" sz="12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25252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즉시 · 예약 분기</a:t>
            </a:r>
            <a:endParaRPr lang="en-US" sz="12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4297680" y="2743200"/>
            <a:ext cx="3657600" cy="3383280"/>
          </a:xfrm>
          <a:prstGeom prst="rect">
            <a:avLst/>
          </a:prstGeom>
          <a:solidFill>
            <a:srgbClr val="0A0A0A"/>
          </a:solidFill>
          <a:ln/>
        </p:spPr>
        <p:txBody>
          <a:bodyPr/>
          <a:lstStyle/>
          <a:p>
            <a:endParaRPr lang="ko-KR" altLang="en-US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4572000" y="30175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A3A3A3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02</a:t>
            </a:r>
            <a:endParaRPr lang="en-US" sz="12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4572000" y="338328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직접 타겟 발송</a:t>
            </a:r>
            <a:endParaRPr lang="en-US" sz="22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4572000" y="39319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D4D4D4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필터 → 추출 → 발송</a:t>
            </a:r>
            <a:endParaRPr lang="en-US" sz="12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4572000" y="4389120"/>
            <a:ext cx="365760" cy="45720"/>
          </a:xfrm>
          <a:prstGeom prst="rect">
            <a:avLst/>
          </a:prstGeom>
          <a:solidFill>
            <a:srgbClr val="C7F284"/>
          </a:solidFill>
          <a:ln/>
        </p:spPr>
        <p:txBody>
          <a:bodyPr/>
          <a:lstStyle/>
          <a:p>
            <a:endParaRPr lang="ko-KR" altLang="en-US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4572000" y="4572000"/>
            <a:ext cx="3108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D4D4D4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등급 · 성별 · 나이 · 지역 필터</a:t>
            </a:r>
            <a:endParaRPr lang="en-US" sz="12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D4D4D4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구매 패턴 · 활성도 분리</a:t>
            </a:r>
            <a:endParaRPr lang="en-US" sz="12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D4D4D4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매칭 인원 미리 확인</a:t>
            </a:r>
            <a:endParaRPr lang="en-US" sz="12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D4D4D4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저장된 세그먼트 재사용</a:t>
            </a:r>
            <a:endParaRPr lang="en-US" sz="12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8092440" y="2743200"/>
            <a:ext cx="3657600" cy="338328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ko-KR" altLang="en-US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8366760" y="30175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737373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03</a:t>
            </a:r>
            <a:endParaRPr lang="en-US" sz="12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8366760" y="338328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 err="1">
                <a:solidFill>
                  <a:srgbClr val="0A0A0A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자동</a:t>
            </a:r>
            <a:r>
              <a:rPr lang="en-US" sz="2200" b="1" dirty="0">
                <a:solidFill>
                  <a:srgbClr val="0A0A0A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 </a:t>
            </a:r>
            <a:r>
              <a:rPr lang="en-US" sz="2200" b="1" dirty="0" err="1">
                <a:solidFill>
                  <a:srgbClr val="0A0A0A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발송</a:t>
            </a:r>
            <a:endParaRPr lang="en-US" sz="22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8366760" y="39319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25252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예약 · 트리거 자동</a:t>
            </a:r>
            <a:endParaRPr lang="en-US" sz="12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8366760" y="4389120"/>
            <a:ext cx="365760" cy="45720"/>
          </a:xfrm>
          <a:prstGeom prst="rect">
            <a:avLst/>
          </a:prstGeom>
          <a:solidFill>
            <a:srgbClr val="0A0A0A"/>
          </a:solidFill>
          <a:ln/>
        </p:spPr>
        <p:txBody>
          <a:bodyPr/>
          <a:lstStyle/>
          <a:p>
            <a:endParaRPr lang="ko-KR" altLang="en-US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8366760" y="4572000"/>
            <a:ext cx="3108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25252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일자 지정 정기 발송</a:t>
            </a:r>
            <a:endParaRPr lang="en-US" sz="12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25252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생일 · 기념일 D-day 자동</a:t>
            </a:r>
            <a:endParaRPr lang="en-US" sz="12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25252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월간 · 주간 반복</a:t>
            </a:r>
            <a:endParaRPr lang="en-US" sz="12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25252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담당자 사전 알림</a:t>
            </a:r>
            <a:endParaRPr lang="en-US" sz="12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457200" y="6446520"/>
            <a:ext cx="1124712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37373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hanjul.ai</a:t>
            </a:r>
            <a:endParaRPr lang="en-US" sz="10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6400800" y="653796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kern="0" spc="200" dirty="0">
                <a:solidFill>
                  <a:srgbClr val="737373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08 / 16</a:t>
            </a:r>
            <a:endParaRPr lang="en-US" sz="10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400" b="1" kern="0" spc="100" dirty="0" err="1">
                <a:solidFill>
                  <a:srgbClr val="FFFFFF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한줄로</a:t>
            </a:r>
            <a:r>
              <a:rPr lang="en-US" altLang="ko-KR" sz="1400" b="1" kern="0" spc="100" dirty="0">
                <a:solidFill>
                  <a:srgbClr val="FFFFFF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_</a:t>
            </a:r>
            <a:endParaRPr lang="en-US" sz="14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3" name="Text 1"/>
          <p:cNvSpPr/>
          <p:nvPr/>
        </p:nvSpPr>
        <p:spPr>
          <a:xfrm>
            <a:off x="7315200" y="32004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kern="0" spc="400" dirty="0">
                <a:solidFill>
                  <a:srgbClr val="C7F284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AI OPERATOR</a:t>
            </a:r>
            <a:endParaRPr lang="en-US" sz="11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7200" y="777240"/>
            <a:ext cx="11247120" cy="0"/>
          </a:xfrm>
          <a:prstGeom prst="line">
            <a:avLst/>
          </a:prstGeom>
          <a:noFill/>
          <a:ln w="6350">
            <a:solidFill>
              <a:srgbClr val="262626"/>
            </a:solidFill>
            <a:prstDash val="solid"/>
          </a:ln>
        </p:spPr>
        <p:txBody>
          <a:bodyPr/>
          <a:lstStyle/>
          <a:p>
            <a:endParaRPr lang="ko-KR" altLang="en-US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11887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AI Operator</a:t>
            </a:r>
            <a:endParaRPr lang="en-US" sz="44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2057400"/>
            <a:ext cx="548640" cy="73152"/>
          </a:xfrm>
          <a:prstGeom prst="rect">
            <a:avLst/>
          </a:prstGeom>
          <a:solidFill>
            <a:srgbClr val="C7F284"/>
          </a:solidFill>
          <a:ln/>
        </p:spPr>
        <p:txBody>
          <a:bodyPr/>
          <a:lstStyle/>
          <a:p>
            <a:endParaRPr lang="ko-KR" altLang="en-US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7" name="Text 5"/>
          <p:cNvSpPr/>
          <p:nvPr/>
        </p:nvSpPr>
        <p:spPr>
          <a:xfrm>
            <a:off x="457200" y="22402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D4D4D4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자연어 한 줄 → 완전 자동 캠페인 패키지</a:t>
            </a:r>
            <a:endParaRPr lang="en-US" sz="14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8" name="Shape 6"/>
          <p:cNvSpPr/>
          <p:nvPr/>
        </p:nvSpPr>
        <p:spPr>
          <a:xfrm>
            <a:off x="457200" y="2834640"/>
            <a:ext cx="5486400" cy="914400"/>
          </a:xfrm>
          <a:prstGeom prst="rect">
            <a:avLst/>
          </a:prstGeom>
          <a:solidFill>
            <a:srgbClr val="262626"/>
          </a:solidFill>
          <a:ln w="12700">
            <a:solidFill>
              <a:srgbClr val="525252"/>
            </a:solidFill>
            <a:prstDash val="solid"/>
          </a:ln>
        </p:spPr>
        <p:txBody>
          <a:bodyPr/>
          <a:lstStyle/>
          <a:p>
            <a:endParaRPr lang="ko-KR" altLang="en-US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9" name="Text 7"/>
          <p:cNvSpPr/>
          <p:nvPr/>
        </p:nvSpPr>
        <p:spPr>
          <a:xfrm>
            <a:off x="640080" y="29260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A3A3A3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INPUT</a:t>
            </a:r>
            <a:endParaRPr lang="en-US" sz="10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10" name="Text 8"/>
          <p:cNvSpPr/>
          <p:nvPr/>
        </p:nvSpPr>
        <p:spPr>
          <a:xfrm>
            <a:off x="640080" y="320040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FFFFFF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"신규 가입자 환영 7일 시리즈"</a:t>
            </a:r>
            <a:endParaRPr lang="en-US" sz="18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11" name="Text 9"/>
          <p:cNvSpPr/>
          <p:nvPr/>
        </p:nvSpPr>
        <p:spPr>
          <a:xfrm>
            <a:off x="2743200" y="384048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C7F284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▼</a:t>
            </a:r>
            <a:endParaRPr lang="en-US" sz="18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457200" y="4434840"/>
            <a:ext cx="5486400" cy="1828800"/>
          </a:xfrm>
          <a:prstGeom prst="rect">
            <a:avLst/>
          </a:prstGeom>
          <a:solidFill>
            <a:srgbClr val="262626"/>
          </a:solidFill>
          <a:ln w="12700">
            <a:solidFill>
              <a:srgbClr val="525252"/>
            </a:solidFill>
            <a:prstDash val="solid"/>
          </a:ln>
        </p:spPr>
        <p:txBody>
          <a:bodyPr/>
          <a:lstStyle/>
          <a:p>
            <a:endParaRPr lang="ko-KR" altLang="en-US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640080" y="45262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C7F284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OUTPUT</a:t>
            </a:r>
            <a:endParaRPr lang="en-US" sz="10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640080" y="4800600"/>
            <a:ext cx="5120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5E5E5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4개 단계 시계열 (Day 0 · 1 · 3 · 7)</a:t>
            </a:r>
            <a:endParaRPr lang="en-US" sz="12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E5E5E5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각 단계 메시지 풍성하게 작성</a:t>
            </a:r>
            <a:endParaRPr lang="en-US" sz="12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E5E5E5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시즌 단어 자연스럽게 반영</a:t>
            </a:r>
            <a:endParaRPr lang="en-US" sz="12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E5E5E5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브랜드 톤 학습 메모리 활용</a:t>
            </a:r>
            <a:endParaRPr lang="en-US" sz="12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E5E5E5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회신번호 · 예산 · 광고 표기 자동</a:t>
            </a:r>
            <a:endParaRPr lang="en-US" sz="12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6583680" y="2834640"/>
            <a:ext cx="51206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0" b="1" dirty="0">
                <a:solidFill>
                  <a:srgbClr val="FFFFFF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5초</a:t>
            </a:r>
            <a:endParaRPr lang="en-US" sz="140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6583680" y="4389120"/>
            <a:ext cx="731520" cy="73152"/>
          </a:xfrm>
          <a:prstGeom prst="rect">
            <a:avLst/>
          </a:prstGeom>
          <a:solidFill>
            <a:srgbClr val="C7F284"/>
          </a:solidFill>
          <a:ln/>
        </p:spPr>
        <p:txBody>
          <a:bodyPr/>
          <a:lstStyle/>
          <a:p>
            <a:endParaRPr lang="ko-KR" altLang="en-US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6583680" y="457200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AI가 완전 패키지 자동 설계</a:t>
            </a:r>
            <a:endParaRPr lang="en-US" sz="16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6583680" y="502920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A3A3A3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검토 + 혜택 부분만 직접 수정 → 활성화</a:t>
            </a:r>
            <a:endParaRPr lang="en-US" sz="12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6583680" y="557784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D4D4D4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사용할수록 정확도가 향상되는 학습 메모리</a:t>
            </a:r>
            <a:endParaRPr lang="en-US" sz="12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457200" y="6446520"/>
            <a:ext cx="11247120" cy="0"/>
          </a:xfrm>
          <a:prstGeom prst="line">
            <a:avLst/>
          </a:prstGeom>
          <a:noFill/>
          <a:ln w="6350">
            <a:solidFill>
              <a:srgbClr val="262626"/>
            </a:solidFill>
            <a:prstDash val="solid"/>
          </a:ln>
        </p:spPr>
        <p:txBody>
          <a:bodyPr/>
          <a:lstStyle/>
          <a:p>
            <a:endParaRPr lang="ko-KR" altLang="en-US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hanjul.ai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400800" y="653796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kern="0" spc="20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/ 16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400" b="1" kern="0" spc="100" dirty="0" err="1">
                <a:solidFill>
                  <a:srgbClr val="171717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한줄로</a:t>
            </a:r>
            <a:r>
              <a:rPr lang="en-US" altLang="ko-KR" sz="1400" b="1" kern="0" spc="100" dirty="0">
                <a:solidFill>
                  <a:srgbClr val="171717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_</a:t>
            </a:r>
            <a:endParaRPr lang="en-US" sz="14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3" name="Text 1"/>
          <p:cNvSpPr/>
          <p:nvPr/>
        </p:nvSpPr>
        <p:spPr>
          <a:xfrm>
            <a:off x="7315200" y="32004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kern="0" spc="200" dirty="0">
                <a:solidFill>
                  <a:srgbClr val="737373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TargetUp</a:t>
            </a:r>
            <a:endParaRPr lang="en-US" sz="11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7200" y="777240"/>
            <a:ext cx="1124712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118872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0A0A0A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여정 자동화</a:t>
            </a:r>
            <a:endParaRPr lang="en-US" sz="38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2011680"/>
            <a:ext cx="548640" cy="73152"/>
          </a:xfrm>
          <a:prstGeom prst="rect">
            <a:avLst/>
          </a:prstGeom>
          <a:solidFill>
            <a:srgbClr val="0A0A0A"/>
          </a:solidFill>
          <a:ln/>
        </p:spPr>
        <p:txBody>
          <a:bodyPr/>
          <a:lstStyle/>
          <a:p>
            <a:endParaRPr lang="ko-KR" altLang="en-US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25252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7가지 표준 + 자유 설계</a:t>
            </a:r>
            <a:endParaRPr lang="en-US" sz="14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8" name="Shape 6"/>
          <p:cNvSpPr/>
          <p:nvPr/>
        </p:nvSpPr>
        <p:spPr>
          <a:xfrm>
            <a:off x="457200" y="2743200"/>
            <a:ext cx="3657600" cy="118872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ko-KR" altLang="en-US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9" name="Text 7"/>
          <p:cNvSpPr/>
          <p:nvPr/>
        </p:nvSpPr>
        <p:spPr>
          <a:xfrm>
            <a:off x="685800" y="292608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737373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01</a:t>
            </a:r>
            <a:endParaRPr lang="en-US" sz="12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10" name="Text 8"/>
          <p:cNvSpPr/>
          <p:nvPr/>
        </p:nvSpPr>
        <p:spPr>
          <a:xfrm>
            <a:off x="685800" y="32461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A0A0A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신규 가입 환영</a:t>
            </a:r>
            <a:endParaRPr lang="en-US" sz="16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11" name="Text 9"/>
          <p:cNvSpPr/>
          <p:nvPr/>
        </p:nvSpPr>
        <p:spPr>
          <a:xfrm>
            <a:off x="685800" y="359359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25252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Day 0 · 1 · 3 · 7 단계 발송</a:t>
            </a:r>
            <a:endParaRPr lang="en-US" sz="11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4251960" y="2743200"/>
            <a:ext cx="3657600" cy="118872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ko-KR" altLang="en-US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4480560" y="292608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737373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02</a:t>
            </a:r>
            <a:endParaRPr lang="en-US" sz="12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4480560" y="32461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A0A0A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재구매 유도</a:t>
            </a:r>
            <a:endParaRPr lang="en-US" sz="16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4480560" y="359359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25252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구매 후 7 · 14 · 30일</a:t>
            </a:r>
            <a:endParaRPr lang="en-US" sz="11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8046720" y="2743200"/>
            <a:ext cx="3657600" cy="118872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ko-KR" altLang="en-US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8275320" y="292608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737373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03</a:t>
            </a:r>
            <a:endParaRPr lang="en-US" sz="12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8275320" y="32461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A0A0A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휴면 회수</a:t>
            </a:r>
            <a:endParaRPr lang="en-US" sz="16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8275320" y="359359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25252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30일+ 미접속 고객 회복</a:t>
            </a:r>
            <a:endParaRPr lang="en-US" sz="11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457200" y="4096512"/>
            <a:ext cx="3657600" cy="118872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ko-KR" altLang="en-US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685800" y="4279392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737373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04</a:t>
            </a:r>
            <a:endParaRPr lang="en-US" sz="12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685800" y="4599432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A0A0A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장바구니 회복</a:t>
            </a:r>
            <a:endParaRPr lang="en-US" sz="16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685800" y="4946904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25252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24시간 결제 없음 안내</a:t>
            </a:r>
            <a:endParaRPr lang="en-US" sz="11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4251960" y="4096512"/>
            <a:ext cx="3657600" cy="118872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ko-KR" altLang="en-US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4480560" y="4279392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737373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05</a:t>
            </a:r>
            <a:endParaRPr lang="en-US" sz="12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4480560" y="4599432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A0A0A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생일 축하</a:t>
            </a:r>
            <a:endParaRPr lang="en-US" sz="16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4480560" y="4946904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25252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D-7 사전 + D-Day 당일</a:t>
            </a:r>
            <a:endParaRPr lang="en-US" sz="11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8046720" y="4096512"/>
            <a:ext cx="3657600" cy="118872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ko-KR" altLang="en-US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8275320" y="4279392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737373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06</a:t>
            </a:r>
            <a:endParaRPr lang="en-US" sz="12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8275320" y="4599432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A0A0A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예약 알림</a:t>
            </a:r>
            <a:endParaRPr lang="en-US" sz="16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8275320" y="4946904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25252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D-3 + 당일 + D+1 후기</a:t>
            </a:r>
            <a:endParaRPr lang="en-US" sz="11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457200" y="5449824"/>
            <a:ext cx="3657600" cy="118872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ko-KR" altLang="en-US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685800" y="5632704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737373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07</a:t>
            </a:r>
            <a:endParaRPr lang="en-US" sz="12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685800" y="5952744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A0A0A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자유 여정</a:t>
            </a:r>
            <a:endParaRPr lang="en-US" sz="16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685800" y="6300216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25252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자연어로 직접 설계</a:t>
            </a:r>
            <a:endParaRPr lang="en-US" sz="11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457200" y="5532120"/>
            <a:ext cx="11247120" cy="777240"/>
          </a:xfrm>
          <a:prstGeom prst="rect">
            <a:avLst/>
          </a:prstGeom>
          <a:solidFill>
            <a:srgbClr val="0A0A0A"/>
          </a:solidFill>
          <a:ln/>
        </p:spPr>
        <p:txBody>
          <a:bodyPr/>
          <a:lstStyle/>
          <a:p>
            <a:endParaRPr lang="ko-KR" altLang="en-US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640080" y="565099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i="1" dirty="0">
                <a:solidFill>
                  <a:srgbClr val="FFFFFF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고객 한 명의 행동이 발생하면 — AI가 짜둔 단계별 메시지가 자동 발송</a:t>
            </a:r>
            <a:endParaRPr lang="en-US" sz="16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38" name="Shape 36"/>
          <p:cNvSpPr/>
          <p:nvPr/>
        </p:nvSpPr>
        <p:spPr>
          <a:xfrm>
            <a:off x="457200" y="6446520"/>
            <a:ext cx="1124712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37373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hanjul.ai</a:t>
            </a:r>
            <a:endParaRPr lang="en-US" sz="10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40" name="Text 38"/>
          <p:cNvSpPr/>
          <p:nvPr/>
        </p:nvSpPr>
        <p:spPr>
          <a:xfrm>
            <a:off x="6400800" y="653796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kern="0" spc="200" dirty="0">
                <a:solidFill>
                  <a:srgbClr val="737373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10 / 16</a:t>
            </a:r>
            <a:endParaRPr lang="en-US" sz="10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400" b="1" kern="0" spc="100" dirty="0" err="1">
                <a:solidFill>
                  <a:srgbClr val="171717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한줄로</a:t>
            </a:r>
            <a:r>
              <a:rPr lang="en-US" altLang="ko-KR" sz="1400" b="1" kern="0" spc="100" dirty="0">
                <a:solidFill>
                  <a:srgbClr val="171717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_</a:t>
            </a:r>
            <a:endParaRPr lang="en-US" sz="14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3" name="Text 1"/>
          <p:cNvSpPr/>
          <p:nvPr/>
        </p:nvSpPr>
        <p:spPr>
          <a:xfrm>
            <a:off x="7315200" y="32004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kern="0" spc="200" dirty="0">
                <a:solidFill>
                  <a:srgbClr val="737373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TargetUp</a:t>
            </a:r>
            <a:endParaRPr lang="en-US" sz="11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7200" y="777240"/>
            <a:ext cx="1124712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118872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0A0A0A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디자인 채널</a:t>
            </a:r>
            <a:endParaRPr lang="en-US" sz="38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2011680"/>
            <a:ext cx="548640" cy="73152"/>
          </a:xfrm>
          <a:prstGeom prst="rect">
            <a:avLst/>
          </a:prstGeom>
          <a:solidFill>
            <a:srgbClr val="0A0A0A"/>
          </a:solidFill>
          <a:ln/>
        </p:spPr>
        <p:txBody>
          <a:bodyPr/>
          <a:lstStyle/>
          <a:p>
            <a:endParaRPr lang="ko-KR" altLang="en-US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25252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모바일 DM · Web Push · In-app 메시지</a:t>
            </a:r>
            <a:endParaRPr lang="en-US" sz="14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8" name="Shape 6"/>
          <p:cNvSpPr/>
          <p:nvPr/>
        </p:nvSpPr>
        <p:spPr>
          <a:xfrm>
            <a:off x="502920" y="2743200"/>
            <a:ext cx="3657600" cy="338328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ko-KR" altLang="en-US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9" name="Text 7"/>
          <p:cNvSpPr/>
          <p:nvPr/>
        </p:nvSpPr>
        <p:spPr>
          <a:xfrm>
            <a:off x="777240" y="30175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737373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01</a:t>
            </a:r>
            <a:endParaRPr lang="en-US" sz="12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10" name="Text 8"/>
          <p:cNvSpPr/>
          <p:nvPr/>
        </p:nvSpPr>
        <p:spPr>
          <a:xfrm>
            <a:off x="777240" y="338328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A0A0A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모바일 DM 빌더</a:t>
            </a:r>
            <a:endParaRPr lang="en-US" sz="20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11" name="Text 9"/>
          <p:cNvSpPr/>
          <p:nvPr/>
        </p:nvSpPr>
        <p:spPr>
          <a:xfrm>
            <a:off x="777240" y="388620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525252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카드형 디자인 + 단축 URL</a:t>
            </a:r>
            <a:endParaRPr lang="en-US" sz="11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777240" y="4297680"/>
            <a:ext cx="365760" cy="45720"/>
          </a:xfrm>
          <a:prstGeom prst="rect">
            <a:avLst/>
          </a:prstGeom>
          <a:solidFill>
            <a:srgbClr val="0A0A0A"/>
          </a:solidFill>
          <a:ln/>
        </p:spPr>
        <p:txBody>
          <a:bodyPr/>
          <a:lstStyle/>
          <a:p>
            <a:endParaRPr lang="ko-KR" altLang="en-US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777240" y="4480560"/>
            <a:ext cx="31089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525252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드래그 카드형 디자인</a:t>
            </a:r>
            <a:endParaRPr lang="en-US" sz="11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525252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이미지 · 텍스트 · CTA 자유 구성</a:t>
            </a:r>
            <a:endParaRPr lang="en-US" sz="11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525252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단축 URL 자동 + 클릭 추적</a:t>
            </a:r>
            <a:endParaRPr lang="en-US" sz="11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525252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문자 1건에 풍성한 미디어</a:t>
            </a:r>
            <a:endParaRPr lang="en-US" sz="11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4297680" y="2743200"/>
            <a:ext cx="3657600" cy="338328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ko-KR" altLang="en-US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4572000" y="30175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737373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02</a:t>
            </a:r>
            <a:endParaRPr lang="en-US" sz="12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4572000" y="338328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A0A0A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Web Push</a:t>
            </a:r>
            <a:endParaRPr lang="en-US" sz="20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4572000" y="388620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525252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브라우저 푸시 알림</a:t>
            </a:r>
            <a:endParaRPr lang="en-US" sz="11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4572000" y="4297680"/>
            <a:ext cx="365760" cy="45720"/>
          </a:xfrm>
          <a:prstGeom prst="rect">
            <a:avLst/>
          </a:prstGeom>
          <a:solidFill>
            <a:srgbClr val="0A0A0A"/>
          </a:solidFill>
          <a:ln/>
        </p:spPr>
        <p:txBody>
          <a:bodyPr/>
          <a:lstStyle/>
          <a:p>
            <a:endParaRPr lang="ko-KR" altLang="en-US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4572000" y="4480560"/>
            <a:ext cx="31089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525252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PC · 모바일 동시 발송</a:t>
            </a:r>
            <a:endParaRPr lang="en-US" sz="11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525252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자사몰 방문자 자동 구독</a:t>
            </a:r>
            <a:endParaRPr lang="en-US" sz="11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525252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VAPID 표준 보안 인증</a:t>
            </a:r>
            <a:endParaRPr lang="en-US" sz="11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525252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도달률 · 클릭률 추적</a:t>
            </a:r>
            <a:endParaRPr lang="en-US" sz="11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8092440" y="2743200"/>
            <a:ext cx="3657600" cy="338328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ko-KR" altLang="en-US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8366760" y="30175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737373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03</a:t>
            </a:r>
            <a:endParaRPr lang="en-US" sz="12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8366760" y="338328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A0A0A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In-app 메시지</a:t>
            </a:r>
            <a:endParaRPr lang="en-US" sz="20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8366760" y="388620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525252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자사몰 안 배너 · 모달</a:t>
            </a:r>
            <a:endParaRPr lang="en-US" sz="11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8366760" y="4297680"/>
            <a:ext cx="365760" cy="45720"/>
          </a:xfrm>
          <a:prstGeom prst="rect">
            <a:avLst/>
          </a:prstGeom>
          <a:solidFill>
            <a:srgbClr val="0A0A0A"/>
          </a:solidFill>
          <a:ln/>
        </p:spPr>
        <p:txBody>
          <a:bodyPr/>
          <a:lstStyle/>
          <a:p>
            <a:endParaRPr lang="ko-KR" altLang="en-US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8366760" y="4480560"/>
            <a:ext cx="31089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525252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상단 · 하단 · 중앙 모달</a:t>
            </a:r>
            <a:endParaRPr lang="en-US" sz="11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525252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세션당 · 일일 · 항상 빈도</a:t>
            </a:r>
            <a:endParaRPr lang="en-US" sz="11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525252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특정 페이지 · 고객군 매칭</a:t>
            </a:r>
            <a:endParaRPr lang="en-US" sz="11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525252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노출 · 클릭 · 닫힘 트래킹</a:t>
            </a:r>
            <a:endParaRPr lang="en-US" sz="11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457200" y="6446520"/>
            <a:ext cx="1124712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373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hanjul.ai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400800" y="653796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kern="0" spc="200" dirty="0">
                <a:solidFill>
                  <a:srgbClr val="7373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/ 16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400" b="1" kern="0" spc="100" dirty="0" err="1">
                <a:solidFill>
                  <a:srgbClr val="171717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한줄로</a:t>
            </a:r>
            <a:r>
              <a:rPr lang="en-US" altLang="ko-KR" sz="1400" b="1" kern="0" spc="100" dirty="0">
                <a:solidFill>
                  <a:srgbClr val="171717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_</a:t>
            </a:r>
            <a:endParaRPr lang="en-US" sz="14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3" name="Text 1"/>
          <p:cNvSpPr/>
          <p:nvPr/>
        </p:nvSpPr>
        <p:spPr>
          <a:xfrm>
            <a:off x="7315200" y="32004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kern="0" spc="200" dirty="0">
                <a:solidFill>
                  <a:srgbClr val="737373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TargetUp</a:t>
            </a:r>
            <a:endParaRPr lang="en-US" sz="11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7200" y="777240"/>
            <a:ext cx="1124712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118872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0A0A0A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자사몰 직접 연동</a:t>
            </a:r>
            <a:endParaRPr lang="en-US" sz="38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2011680"/>
            <a:ext cx="548640" cy="73152"/>
          </a:xfrm>
          <a:prstGeom prst="rect">
            <a:avLst/>
          </a:prstGeom>
          <a:solidFill>
            <a:srgbClr val="0A0A0A"/>
          </a:solidFill>
          <a:ln/>
        </p:spPr>
        <p:txBody>
          <a:bodyPr/>
          <a:lstStyle/>
          <a:p>
            <a:endParaRPr lang="ko-KR" altLang="en-US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25252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주문 · 회원 · 장바구니 실시간 동기화</a:t>
            </a:r>
            <a:endParaRPr lang="en-US" sz="14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8" name="Text 6"/>
          <p:cNvSpPr/>
          <p:nvPr/>
        </p:nvSpPr>
        <p:spPr>
          <a:xfrm>
            <a:off x="457200" y="2743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737373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CONNECT</a:t>
            </a:r>
            <a:endParaRPr lang="en-US" sz="11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9" name="Text 7"/>
          <p:cNvSpPr/>
          <p:nvPr/>
        </p:nvSpPr>
        <p:spPr>
          <a:xfrm>
            <a:off x="457200" y="306324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A0A0A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연동 자사몰</a:t>
            </a:r>
            <a:endParaRPr lang="en-US" sz="22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457200" y="3703320"/>
            <a:ext cx="2468880" cy="50292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ko-KR" altLang="en-US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11" name="Text 9"/>
          <p:cNvSpPr/>
          <p:nvPr/>
        </p:nvSpPr>
        <p:spPr>
          <a:xfrm>
            <a:off x="640080" y="370332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71717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네이버 스마트스토어</a:t>
            </a:r>
            <a:endParaRPr lang="en-US" sz="12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3108960" y="3703320"/>
            <a:ext cx="2468880" cy="50292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ko-KR" altLang="en-US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3291840" y="370332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71717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카페24</a:t>
            </a:r>
            <a:endParaRPr lang="en-US" sz="12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457200" y="4297680"/>
            <a:ext cx="2468880" cy="50292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ko-KR" altLang="en-US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640080" y="429768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71717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Shopify</a:t>
            </a:r>
            <a:endParaRPr lang="en-US" sz="12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3108960" y="4297680"/>
            <a:ext cx="2468880" cy="50292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ko-KR" altLang="en-US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3291840" y="429768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71717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메이크샵</a:t>
            </a:r>
            <a:endParaRPr lang="en-US" sz="12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457200" y="4892040"/>
            <a:ext cx="2468880" cy="50292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ko-KR" altLang="en-US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640080" y="489204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71717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imweb</a:t>
            </a:r>
            <a:endParaRPr lang="en-US" sz="12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3108960" y="4892040"/>
            <a:ext cx="2468880" cy="50292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ko-KR" altLang="en-US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3291840" y="489204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71717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WooCommerce</a:t>
            </a:r>
            <a:endParaRPr lang="en-US" sz="12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457200" y="5486400"/>
            <a:ext cx="2468880" cy="50292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ko-KR" altLang="en-US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640080" y="548640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71717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식스샵</a:t>
            </a:r>
            <a:endParaRPr lang="en-US" sz="12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3108960" y="5486400"/>
            <a:ext cx="2468880" cy="50292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ko-KR" altLang="en-US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3291840" y="548640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71717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자체 호스팅</a:t>
            </a:r>
            <a:endParaRPr lang="en-US" sz="12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6217920" y="2743200"/>
            <a:ext cx="5486400" cy="3566160"/>
          </a:xfrm>
          <a:prstGeom prst="rect">
            <a:avLst/>
          </a:prstGeom>
          <a:solidFill>
            <a:srgbClr val="0A0A0A"/>
          </a:solidFill>
          <a:ln/>
        </p:spPr>
        <p:txBody>
          <a:bodyPr/>
          <a:lstStyle/>
          <a:p>
            <a:endParaRPr lang="ko-KR" altLang="en-US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6400800" y="288036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한 곳에서 통합 관리</a:t>
            </a:r>
            <a:endParaRPr lang="en-US" sz="20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6400800" y="3337560"/>
            <a:ext cx="457200" cy="54864"/>
          </a:xfrm>
          <a:prstGeom prst="rect">
            <a:avLst/>
          </a:prstGeom>
          <a:solidFill>
            <a:srgbClr val="C7F284"/>
          </a:solidFill>
          <a:ln/>
        </p:spPr>
        <p:txBody>
          <a:bodyPr/>
          <a:lstStyle/>
          <a:p>
            <a:endParaRPr lang="ko-KR" altLang="en-US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6400800" y="35661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A3A3A3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01</a:t>
            </a:r>
            <a:endParaRPr lang="en-US" sz="12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7040880" y="35204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회원 정보</a:t>
            </a:r>
            <a:endParaRPr lang="en-US" sz="14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7040880" y="385876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4D4D4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이름 · 연락처 · 등급 · 가입일</a:t>
            </a:r>
            <a:endParaRPr lang="en-US" sz="11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6400800" y="422452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A3A3A3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02</a:t>
            </a:r>
            <a:endParaRPr lang="en-US" sz="12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7040880" y="417880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주문 이력</a:t>
            </a:r>
            <a:endParaRPr lang="en-US" sz="14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7040880" y="451713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4D4D4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구매 상품 · 금액 · 빈도 · LTV</a:t>
            </a:r>
            <a:endParaRPr lang="en-US" sz="11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6400800" y="488289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A3A3A3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03</a:t>
            </a:r>
            <a:endParaRPr lang="en-US" sz="12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7040880" y="483717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실시간 행동</a:t>
            </a:r>
            <a:endParaRPr lang="en-US" sz="14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7040880" y="5175504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4D4D4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장바구니 · 예약 · 클릭 자동 수집</a:t>
            </a:r>
            <a:endParaRPr lang="en-US" sz="11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6400800" y="5541264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A3A3A3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04</a:t>
            </a:r>
            <a:endParaRPr lang="en-US" sz="12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7040880" y="5495544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엑셀 + 행동 통합</a:t>
            </a:r>
            <a:endParaRPr lang="en-US" sz="14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40" name="Text 38"/>
          <p:cNvSpPr/>
          <p:nvPr/>
        </p:nvSpPr>
        <p:spPr>
          <a:xfrm>
            <a:off x="7040880" y="583387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4D4D4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한 고객 모든 데이터 단일 뷰</a:t>
            </a:r>
            <a:endParaRPr lang="en-US" sz="11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41" name="Shape 39"/>
          <p:cNvSpPr/>
          <p:nvPr/>
        </p:nvSpPr>
        <p:spPr>
          <a:xfrm>
            <a:off x="457200" y="6446520"/>
            <a:ext cx="1124712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42" name="Text 40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37373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hanjul.ai</a:t>
            </a:r>
            <a:endParaRPr lang="en-US" sz="10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43" name="Text 41"/>
          <p:cNvSpPr/>
          <p:nvPr/>
        </p:nvSpPr>
        <p:spPr>
          <a:xfrm>
            <a:off x="6400800" y="653796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kern="0" spc="200" dirty="0">
                <a:solidFill>
                  <a:srgbClr val="737373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12 / 16</a:t>
            </a:r>
            <a:endParaRPr lang="en-US" sz="10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400" b="1" kern="0" spc="100" dirty="0" err="1">
                <a:solidFill>
                  <a:srgbClr val="171717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한줄로</a:t>
            </a:r>
            <a:r>
              <a:rPr lang="en-US" altLang="ko-KR" sz="1400" b="1" kern="0" spc="100" dirty="0">
                <a:solidFill>
                  <a:srgbClr val="171717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_</a:t>
            </a:r>
            <a:endParaRPr lang="en-US" sz="14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3" name="Text 1"/>
          <p:cNvSpPr/>
          <p:nvPr/>
        </p:nvSpPr>
        <p:spPr>
          <a:xfrm>
            <a:off x="7315200" y="32004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kern="0" spc="200" dirty="0">
                <a:solidFill>
                  <a:srgbClr val="737373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TargetUp</a:t>
            </a:r>
            <a:endParaRPr lang="en-US" sz="11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7200" y="777240"/>
            <a:ext cx="1124712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118872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0A0A0A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4중 안전망</a:t>
            </a:r>
            <a:endParaRPr lang="en-US" sz="38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2011680"/>
            <a:ext cx="548640" cy="73152"/>
          </a:xfrm>
          <a:prstGeom prst="rect">
            <a:avLst/>
          </a:prstGeom>
          <a:solidFill>
            <a:srgbClr val="0A0A0A"/>
          </a:solidFill>
          <a:ln/>
        </p:spPr>
        <p:txBody>
          <a:bodyPr/>
          <a:lstStyle/>
          <a:p>
            <a:endParaRPr lang="ko-KR" altLang="en-US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25252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정보통신망법 · KISA · 통신사 정책 자동 준수</a:t>
            </a:r>
            <a:endParaRPr lang="en-US" sz="14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8" name="Shape 6"/>
          <p:cNvSpPr/>
          <p:nvPr/>
        </p:nvSpPr>
        <p:spPr>
          <a:xfrm>
            <a:off x="457200" y="2743200"/>
            <a:ext cx="5440680" cy="137160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ko-KR" altLang="en-US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9" name="Text 7"/>
          <p:cNvSpPr/>
          <p:nvPr/>
        </p:nvSpPr>
        <p:spPr>
          <a:xfrm>
            <a:off x="731520" y="297180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737373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01</a:t>
            </a:r>
            <a:endParaRPr lang="en-US" sz="12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10" name="Text 8"/>
          <p:cNvSpPr/>
          <p:nvPr/>
        </p:nvSpPr>
        <p:spPr>
          <a:xfrm>
            <a:off x="731520" y="3246120"/>
            <a:ext cx="4892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A0A0A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(광고) 표기 자동</a:t>
            </a:r>
            <a:endParaRPr lang="en-US" sz="18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11" name="Text 9"/>
          <p:cNvSpPr/>
          <p:nvPr/>
        </p:nvSpPr>
        <p:spPr>
          <a:xfrm>
            <a:off x="731520" y="3657600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25252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광고 메시지 (광고) 표시 자동 부착</a:t>
            </a:r>
            <a:endParaRPr lang="en-US" sz="12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6263640" y="2743200"/>
            <a:ext cx="5440680" cy="137160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ko-KR" altLang="en-US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6537960" y="297180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737373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02</a:t>
            </a:r>
            <a:endParaRPr lang="en-US" sz="12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6537960" y="3246120"/>
            <a:ext cx="4892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A0A0A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무료거부 080 자동</a:t>
            </a:r>
            <a:endParaRPr lang="en-US" sz="18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6537960" y="3657600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25252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수신거부 자동 합성 (LMS · SMS 분기)</a:t>
            </a:r>
            <a:endParaRPr lang="en-US" sz="12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457200" y="4343400"/>
            <a:ext cx="5440680" cy="137160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ko-KR" altLang="en-US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731520" y="457200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737373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03</a:t>
            </a:r>
            <a:endParaRPr lang="en-US" sz="12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731520" y="4846320"/>
            <a:ext cx="4892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A0A0A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발송 시간 자동</a:t>
            </a:r>
            <a:endParaRPr lang="en-US" sz="18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731520" y="5257800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25252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KST 08:00 ~ 21:00 야간 차단</a:t>
            </a:r>
            <a:endParaRPr lang="en-US" sz="12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6263640" y="4343400"/>
            <a:ext cx="5440680" cy="137160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ko-KR" altLang="en-US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6537960" y="457200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737373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04</a:t>
            </a:r>
            <a:endParaRPr lang="en-US" sz="12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6537960" y="4846320"/>
            <a:ext cx="4892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A0A0A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제목 표준 자동</a:t>
            </a:r>
            <a:endParaRPr lang="en-US" sz="18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6537960" y="5257800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25252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LMS · MMS KISA 제목 표준 적용</a:t>
            </a:r>
            <a:endParaRPr lang="en-US" sz="12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457200" y="5852160"/>
            <a:ext cx="11247120" cy="548640"/>
          </a:xfrm>
          <a:prstGeom prst="rect">
            <a:avLst/>
          </a:prstGeom>
          <a:solidFill>
            <a:srgbClr val="0A0A0A"/>
          </a:solidFill>
          <a:ln/>
        </p:spPr>
        <p:txBody>
          <a:bodyPr/>
          <a:lstStyle/>
          <a:p>
            <a:endParaRPr lang="ko-KR" altLang="en-US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640080" y="58978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7F284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스팸 검수</a:t>
            </a:r>
            <a:endParaRPr lang="en-US" sz="12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640080" y="61264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4D4D4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발송 전 자동 분류</a:t>
            </a:r>
            <a:endParaRPr lang="en-US" sz="10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4389120" y="58978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7F284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이모지 · 특수문자</a:t>
            </a:r>
            <a:endParaRPr lang="en-US" sz="12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4389120" y="61264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4D4D4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미지원 단어 자동 정규화</a:t>
            </a:r>
            <a:endParaRPr lang="en-US" sz="10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8138160" y="58978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7F284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발신번호 인증</a:t>
            </a:r>
            <a:endParaRPr lang="en-US" sz="12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8138160" y="61264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4D4D4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통신사 등록 발신번호 검증</a:t>
            </a:r>
            <a:endParaRPr lang="en-US" sz="10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457200" y="6446520"/>
            <a:ext cx="1124712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37373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hanjul.ai</a:t>
            </a:r>
            <a:endParaRPr lang="en-US" sz="10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6400800" y="653796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kern="0" spc="200" dirty="0">
                <a:solidFill>
                  <a:srgbClr val="737373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13 / 16</a:t>
            </a:r>
            <a:endParaRPr lang="en-US" sz="10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400" b="1" kern="0" spc="100" dirty="0" err="1">
                <a:solidFill>
                  <a:srgbClr val="171717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한줄로</a:t>
            </a:r>
            <a:r>
              <a:rPr lang="en-US" altLang="ko-KR" sz="1400" b="1" kern="0" spc="100" dirty="0">
                <a:solidFill>
                  <a:srgbClr val="171717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_</a:t>
            </a:r>
            <a:endParaRPr lang="en-US" sz="14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3" name="Text 1"/>
          <p:cNvSpPr/>
          <p:nvPr/>
        </p:nvSpPr>
        <p:spPr>
          <a:xfrm>
            <a:off x="7315200" y="32004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kern="0" spc="200" dirty="0">
                <a:solidFill>
                  <a:srgbClr val="737373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TargetUp</a:t>
            </a:r>
            <a:endParaRPr lang="en-US" sz="11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7200" y="777240"/>
            <a:ext cx="1124712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118872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0A0A0A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성과 + AI 추천</a:t>
            </a:r>
            <a:endParaRPr lang="en-US" sz="38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2011680"/>
            <a:ext cx="548640" cy="73152"/>
          </a:xfrm>
          <a:prstGeom prst="rect">
            <a:avLst/>
          </a:prstGeom>
          <a:solidFill>
            <a:srgbClr val="0A0A0A"/>
          </a:solidFill>
          <a:ln/>
        </p:spPr>
        <p:txBody>
          <a:bodyPr/>
          <a:lstStyle/>
          <a:p>
            <a:endParaRPr lang="ko-KR" altLang="en-US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25252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1회성 발송에서 운영 파트너로</a:t>
            </a:r>
            <a:endParaRPr lang="en-US" sz="14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8" name="Shape 6"/>
          <p:cNvSpPr/>
          <p:nvPr/>
        </p:nvSpPr>
        <p:spPr>
          <a:xfrm>
            <a:off x="457200" y="2743200"/>
            <a:ext cx="2606040" cy="132588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ko-KR" altLang="en-US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9" name="Text 7"/>
          <p:cNvSpPr/>
          <p:nvPr/>
        </p:nvSpPr>
        <p:spPr>
          <a:xfrm>
            <a:off x="685800" y="292608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A0A0A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30일</a:t>
            </a:r>
            <a:endParaRPr lang="en-US" sz="28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685800" y="3456432"/>
            <a:ext cx="274320" cy="36576"/>
          </a:xfrm>
          <a:prstGeom prst="rect">
            <a:avLst/>
          </a:prstGeom>
          <a:solidFill>
            <a:srgbClr val="0A0A0A"/>
          </a:solidFill>
          <a:ln/>
        </p:spPr>
        <p:txBody>
          <a:bodyPr/>
          <a:lstStyle/>
          <a:p>
            <a:endParaRPr lang="ko-KR" altLang="en-US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11" name="Text 9"/>
          <p:cNvSpPr/>
          <p:nvPr/>
        </p:nvSpPr>
        <p:spPr>
          <a:xfrm>
            <a:off x="685800" y="35204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62626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자동 성과 분석</a:t>
            </a:r>
            <a:endParaRPr lang="en-US" sz="13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685800" y="379476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25252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발송 · 도달 · 클릭 · 전환</a:t>
            </a:r>
            <a:endParaRPr lang="en-US" sz="10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3200400" y="2743200"/>
            <a:ext cx="2606040" cy="132588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ko-KR" altLang="en-US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3429000" y="292608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A0A0A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채널별</a:t>
            </a:r>
            <a:endParaRPr lang="en-US" sz="28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3429000" y="3456432"/>
            <a:ext cx="274320" cy="36576"/>
          </a:xfrm>
          <a:prstGeom prst="rect">
            <a:avLst/>
          </a:prstGeom>
          <a:solidFill>
            <a:srgbClr val="0A0A0A"/>
          </a:solidFill>
          <a:ln/>
        </p:spPr>
        <p:txBody>
          <a:bodyPr/>
          <a:lstStyle/>
          <a:p>
            <a:endParaRPr lang="ko-KR" altLang="en-US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3429000" y="35204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62626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비교 매트릭스</a:t>
            </a:r>
            <a:endParaRPr lang="en-US" sz="13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3429000" y="379476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25252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SMS · LMS · 알림톡 · Email · Push</a:t>
            </a:r>
            <a:endParaRPr lang="en-US" sz="10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457200" y="4206240"/>
            <a:ext cx="2606040" cy="132588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ko-KR" altLang="en-US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685800" y="438912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A0A0A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시간대</a:t>
            </a:r>
            <a:endParaRPr lang="en-US" sz="28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685800" y="4919472"/>
            <a:ext cx="274320" cy="36576"/>
          </a:xfrm>
          <a:prstGeom prst="rect">
            <a:avLst/>
          </a:prstGeom>
          <a:solidFill>
            <a:srgbClr val="0A0A0A"/>
          </a:solidFill>
          <a:ln/>
        </p:spPr>
        <p:txBody>
          <a:bodyPr/>
          <a:lstStyle/>
          <a:p>
            <a:endParaRPr lang="ko-KR" altLang="en-US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685800" y="49834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62626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성과 매트릭스</a:t>
            </a:r>
            <a:endParaRPr lang="en-US" sz="13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685800" y="525780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25252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24시간 시간대별 도달률</a:t>
            </a:r>
            <a:endParaRPr lang="en-US" sz="10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3200400" y="4206240"/>
            <a:ext cx="2606040" cy="132588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ko-KR" altLang="en-US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3429000" y="438912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A0A0A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고객군별</a:t>
            </a:r>
            <a:endParaRPr lang="en-US" sz="28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3429000" y="4919472"/>
            <a:ext cx="274320" cy="36576"/>
          </a:xfrm>
          <a:prstGeom prst="rect">
            <a:avLst/>
          </a:prstGeom>
          <a:solidFill>
            <a:srgbClr val="0A0A0A"/>
          </a:solidFill>
          <a:ln/>
        </p:spPr>
        <p:txBody>
          <a:bodyPr/>
          <a:lstStyle/>
          <a:p>
            <a:endParaRPr lang="ko-KR" altLang="en-US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3429000" y="49834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62626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성과 매트릭스</a:t>
            </a:r>
            <a:endParaRPr lang="en-US" sz="13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3429000" y="525780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25252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VIP · 일반 · 휴면 · 신규</a:t>
            </a:r>
            <a:endParaRPr lang="en-US" sz="10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6217920" y="2743200"/>
            <a:ext cx="5486400" cy="3520440"/>
          </a:xfrm>
          <a:prstGeom prst="rect">
            <a:avLst/>
          </a:prstGeom>
          <a:solidFill>
            <a:srgbClr val="0A0A0A"/>
          </a:solidFill>
          <a:ln/>
        </p:spPr>
        <p:txBody>
          <a:bodyPr/>
          <a:lstStyle/>
          <a:p>
            <a:endParaRPr lang="ko-KR" altLang="en-US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6400800" y="288036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AI 다음 캠페인 추천</a:t>
            </a:r>
            <a:endParaRPr lang="en-US" sz="18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6400800" y="3383280"/>
            <a:ext cx="365760" cy="45720"/>
          </a:xfrm>
          <a:prstGeom prst="rect">
            <a:avLst/>
          </a:prstGeom>
          <a:solidFill>
            <a:srgbClr val="C7F284"/>
          </a:solidFill>
          <a:ln/>
        </p:spPr>
        <p:txBody>
          <a:bodyPr/>
          <a:lstStyle/>
          <a:p>
            <a:endParaRPr lang="ko-KR" altLang="en-US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6400800" y="36576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7F284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추천</a:t>
            </a:r>
            <a:endParaRPr lang="en-US" sz="11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6400800" y="393192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E5E5E5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"VIP 고객 화요일 LMS — 클릭률 18%로 가장 높습니다"</a:t>
            </a:r>
            <a:endParaRPr lang="en-US" sz="12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6400800" y="45262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7F284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제안</a:t>
            </a:r>
            <a:endParaRPr lang="en-US" sz="11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6400800" y="480060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E5E5E5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"신규 가입 환영에 Day 14 추가 시 재구매율 +12% 예상"</a:t>
            </a:r>
            <a:endParaRPr lang="en-US" sz="12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6400800" y="53949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7F284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경고</a:t>
            </a:r>
            <a:endParaRPr lang="en-US" sz="11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6400800" y="566928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E5E5E5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"휴면 회수 — 60일 시점 발송으로 조정 권장"</a:t>
            </a:r>
            <a:endParaRPr lang="en-US" sz="12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457200" y="6446520"/>
            <a:ext cx="1124712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37373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hanjul.ai</a:t>
            </a:r>
            <a:endParaRPr lang="en-US" sz="10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6400800" y="653796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kern="0" spc="200" dirty="0">
                <a:solidFill>
                  <a:srgbClr val="737373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14 / 16</a:t>
            </a:r>
            <a:endParaRPr lang="en-US" sz="10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400" b="1" kern="0" spc="100" dirty="0" err="1">
                <a:solidFill>
                  <a:srgbClr val="171717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한줄로</a:t>
            </a:r>
            <a:r>
              <a:rPr lang="en-US" altLang="ko-KR" sz="1400" b="1" kern="0" spc="100" dirty="0">
                <a:solidFill>
                  <a:srgbClr val="171717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_</a:t>
            </a:r>
            <a:endParaRPr lang="en-US" sz="14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3" name="Text 1"/>
          <p:cNvSpPr/>
          <p:nvPr/>
        </p:nvSpPr>
        <p:spPr>
          <a:xfrm>
            <a:off x="7315200" y="32004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kern="0" spc="200" dirty="0">
                <a:solidFill>
                  <a:srgbClr val="737373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TargetUp</a:t>
            </a:r>
            <a:endParaRPr lang="en-US" sz="11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7200" y="777240"/>
            <a:ext cx="1124712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118872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0A0A0A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요금제</a:t>
            </a:r>
            <a:endParaRPr lang="en-US" sz="38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2011680"/>
            <a:ext cx="548640" cy="73152"/>
          </a:xfrm>
          <a:prstGeom prst="rect">
            <a:avLst/>
          </a:prstGeom>
          <a:solidFill>
            <a:srgbClr val="0A0A0A"/>
          </a:solidFill>
          <a:ln/>
        </p:spPr>
        <p:txBody>
          <a:bodyPr/>
          <a:lstStyle/>
          <a:p>
            <a:endParaRPr lang="ko-KR" altLang="en-US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25252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비즈니스 규모에 맞춰 — 필요한 기능부터</a:t>
            </a:r>
            <a:endParaRPr lang="en-US" sz="14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8" name="Shape 6"/>
          <p:cNvSpPr/>
          <p:nvPr/>
        </p:nvSpPr>
        <p:spPr>
          <a:xfrm>
            <a:off x="457200" y="2743200"/>
            <a:ext cx="2212848" cy="329184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ko-KR" altLang="en-US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9" name="Text 7"/>
          <p:cNvSpPr/>
          <p:nvPr/>
        </p:nvSpPr>
        <p:spPr>
          <a:xfrm>
            <a:off x="457200" y="3017520"/>
            <a:ext cx="2212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300" dirty="0">
                <a:solidFill>
                  <a:srgbClr val="737373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시작</a:t>
            </a:r>
            <a:endParaRPr lang="en-US" sz="11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10" name="Text 8"/>
          <p:cNvSpPr/>
          <p:nvPr/>
        </p:nvSpPr>
        <p:spPr>
          <a:xfrm>
            <a:off x="457200" y="3520440"/>
            <a:ext cx="2212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kern="0" spc="100" dirty="0">
                <a:solidFill>
                  <a:srgbClr val="0A0A0A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STARTER</a:t>
            </a:r>
            <a:endParaRPr lang="en-US" sz="18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1335024" y="4114800"/>
            <a:ext cx="457200" cy="36576"/>
          </a:xfrm>
          <a:prstGeom prst="rect">
            <a:avLst/>
          </a:prstGeom>
          <a:solidFill>
            <a:srgbClr val="0A0A0A"/>
          </a:solidFill>
          <a:ln/>
        </p:spPr>
        <p:txBody>
          <a:bodyPr/>
          <a:lstStyle/>
          <a:p>
            <a:endParaRPr lang="ko-KR" altLang="en-US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685800" y="4297680"/>
            <a:ext cx="175564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25252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고객 DB · 직접 타겟 발송 · 엑셀 자동 매핑</a:t>
            </a:r>
            <a:endParaRPr lang="en-US" sz="11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2761488" y="2743200"/>
            <a:ext cx="2212848" cy="329184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ko-KR" altLang="en-US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2761488" y="3017520"/>
            <a:ext cx="2212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300" dirty="0">
                <a:solidFill>
                  <a:srgbClr val="737373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활용</a:t>
            </a:r>
            <a:endParaRPr lang="en-US" sz="11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2761488" y="3520440"/>
            <a:ext cx="2212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kern="0" spc="100" dirty="0">
                <a:solidFill>
                  <a:srgbClr val="0A0A0A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BASIC</a:t>
            </a:r>
            <a:endParaRPr lang="en-US" sz="18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3639312" y="4114800"/>
            <a:ext cx="457200" cy="36576"/>
          </a:xfrm>
          <a:prstGeom prst="rect">
            <a:avLst/>
          </a:prstGeom>
          <a:solidFill>
            <a:srgbClr val="0A0A0A"/>
          </a:solidFill>
          <a:ln/>
        </p:spPr>
        <p:txBody>
          <a:bodyPr/>
          <a:lstStyle/>
          <a:p>
            <a:endParaRPr lang="ko-KR" altLang="en-US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2990088" y="4297680"/>
            <a:ext cx="175564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25252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AI 메시지 · AI 타겟 추천 · 스팸 검수</a:t>
            </a:r>
            <a:endParaRPr lang="en-US" sz="11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5065776" y="2743200"/>
            <a:ext cx="2212848" cy="329184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ko-KR" altLang="en-US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5065776" y="3017520"/>
            <a:ext cx="2212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300" dirty="0">
                <a:solidFill>
                  <a:srgbClr val="737373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자동화</a:t>
            </a:r>
            <a:endParaRPr lang="en-US" sz="11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5065776" y="3520440"/>
            <a:ext cx="2212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kern="0" spc="100" dirty="0">
                <a:solidFill>
                  <a:srgbClr val="0A0A0A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PRO</a:t>
            </a:r>
            <a:endParaRPr lang="en-US" sz="18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5943600" y="4114800"/>
            <a:ext cx="457200" cy="36576"/>
          </a:xfrm>
          <a:prstGeom prst="rect">
            <a:avLst/>
          </a:prstGeom>
          <a:solidFill>
            <a:srgbClr val="0A0A0A"/>
          </a:solidFill>
          <a:ln/>
        </p:spPr>
        <p:txBody>
          <a:bodyPr/>
          <a:lstStyle/>
          <a:p>
            <a:endParaRPr lang="ko-KR" altLang="en-US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5294376" y="4297680"/>
            <a:ext cx="175564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25252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자동 발송 · 모바일 DM · 스팸 자동 검사</a:t>
            </a:r>
            <a:endParaRPr lang="en-US" sz="11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7370064" y="2743200"/>
            <a:ext cx="2212848" cy="3291840"/>
          </a:xfrm>
          <a:prstGeom prst="rect">
            <a:avLst/>
          </a:prstGeom>
          <a:solidFill>
            <a:srgbClr val="0A0A0A"/>
          </a:solidFill>
          <a:ln/>
        </p:spPr>
        <p:txBody>
          <a:bodyPr/>
          <a:lstStyle/>
          <a:p>
            <a:endParaRPr lang="ko-KR" altLang="en-US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7370064" y="3017520"/>
            <a:ext cx="2212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300" dirty="0">
                <a:solidFill>
                  <a:srgbClr val="C7F284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통합</a:t>
            </a:r>
            <a:endParaRPr lang="en-US" sz="11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7370064" y="3520440"/>
            <a:ext cx="2212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kern="0" spc="100" dirty="0">
                <a:solidFill>
                  <a:srgbClr val="FFFFFF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BUSINESS</a:t>
            </a:r>
            <a:endParaRPr lang="en-US" sz="18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8247888" y="4114800"/>
            <a:ext cx="457200" cy="36576"/>
          </a:xfrm>
          <a:prstGeom prst="rect">
            <a:avLst/>
          </a:prstGeom>
          <a:solidFill>
            <a:srgbClr val="C7F284"/>
          </a:solidFill>
          <a:ln/>
        </p:spPr>
        <p:txBody>
          <a:bodyPr/>
          <a:lstStyle/>
          <a:p>
            <a:endParaRPr lang="ko-KR" altLang="en-US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7598664" y="4297680"/>
            <a:ext cx="175564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D4D4D4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자사몰 연동 · AI Operator · 여정 자동화</a:t>
            </a:r>
            <a:endParaRPr lang="en-US" sz="11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9674352" y="2743200"/>
            <a:ext cx="2212848" cy="329184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ko-KR" altLang="en-US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9674352" y="3017520"/>
            <a:ext cx="2212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300" dirty="0">
                <a:solidFill>
                  <a:srgbClr val="737373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무제한</a:t>
            </a:r>
            <a:endParaRPr lang="en-US" sz="11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9674352" y="3520440"/>
            <a:ext cx="2212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kern="0" spc="100" dirty="0">
                <a:solidFill>
                  <a:srgbClr val="0A0A0A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ENTERPRISE</a:t>
            </a:r>
            <a:endParaRPr lang="en-US" sz="18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10552176" y="4114800"/>
            <a:ext cx="457200" cy="36576"/>
          </a:xfrm>
          <a:prstGeom prst="rect">
            <a:avLst/>
          </a:prstGeom>
          <a:solidFill>
            <a:srgbClr val="0A0A0A"/>
          </a:solidFill>
          <a:ln/>
        </p:spPr>
        <p:txBody>
          <a:bodyPr/>
          <a:lstStyle/>
          <a:p>
            <a:endParaRPr lang="ko-KR" altLang="en-US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9902952" y="4297680"/>
            <a:ext cx="175564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25252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무제한 발송 · 전담 지원 · 음성 AI · Email</a:t>
            </a:r>
            <a:endParaRPr lang="en-US" sz="11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457200" y="617220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737373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상세 가격 · 발송량별 견적은 영업팀 문의</a:t>
            </a:r>
            <a:endParaRPr lang="en-US" sz="12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457200" y="6446520"/>
            <a:ext cx="1124712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37373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hanjul.ai</a:t>
            </a:r>
            <a:endParaRPr lang="en-US" sz="10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6400800" y="653796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kern="0" spc="200" dirty="0">
                <a:solidFill>
                  <a:srgbClr val="737373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15 / 16</a:t>
            </a:r>
            <a:endParaRPr lang="en-US" sz="10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0"/>
            <a:ext cx="11247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400" b="1" dirty="0">
                <a:solidFill>
                  <a:srgbClr val="FFFFFF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지금 시작하세요</a:t>
            </a:r>
            <a:endParaRPr lang="en-US" sz="64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3" name="Shape 1"/>
          <p:cNvSpPr/>
          <p:nvPr/>
        </p:nvSpPr>
        <p:spPr>
          <a:xfrm>
            <a:off x="5166360" y="2743200"/>
            <a:ext cx="1828800" cy="109728"/>
          </a:xfrm>
          <a:prstGeom prst="rect">
            <a:avLst/>
          </a:prstGeom>
          <a:solidFill>
            <a:srgbClr val="C7F284"/>
          </a:solidFill>
          <a:ln/>
        </p:spPr>
        <p:txBody>
          <a:bodyPr/>
          <a:lstStyle/>
          <a:p>
            <a:endParaRPr lang="ko-KR" altLang="en-US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301752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i="1" dirty="0">
                <a:solidFill>
                  <a:srgbClr val="D4D4D4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자연어 한 줄 입력 → 1분 안 첫 캠페인 발송</a:t>
            </a:r>
            <a:endParaRPr lang="en-US" sz="18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5" name="Shape 3"/>
          <p:cNvSpPr/>
          <p:nvPr/>
        </p:nvSpPr>
        <p:spPr>
          <a:xfrm>
            <a:off x="914400" y="4114800"/>
            <a:ext cx="3108960" cy="1463040"/>
          </a:xfrm>
          <a:prstGeom prst="rect">
            <a:avLst/>
          </a:prstGeom>
          <a:solidFill>
            <a:srgbClr val="262626"/>
          </a:solidFill>
          <a:ln w="12700">
            <a:solidFill>
              <a:srgbClr val="525252"/>
            </a:solidFill>
            <a:prstDash val="solid"/>
          </a:ln>
        </p:spPr>
        <p:txBody>
          <a:bodyPr/>
          <a:lstStyle/>
          <a:p>
            <a:endParaRPr lang="ko-KR" altLang="en-US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6" name="Text 4"/>
          <p:cNvSpPr/>
          <p:nvPr/>
        </p:nvSpPr>
        <p:spPr>
          <a:xfrm>
            <a:off x="1097280" y="43434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400" dirty="0">
                <a:solidFill>
                  <a:srgbClr val="C7F284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WEB</a:t>
            </a:r>
            <a:endParaRPr lang="en-US" sz="10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7" name="Text 5"/>
          <p:cNvSpPr/>
          <p:nvPr/>
        </p:nvSpPr>
        <p:spPr>
          <a:xfrm>
            <a:off x="1097280" y="47548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hanjul.ai</a:t>
            </a:r>
            <a:endParaRPr lang="en-US" sz="22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8" name="Shape 6"/>
          <p:cNvSpPr/>
          <p:nvPr/>
        </p:nvSpPr>
        <p:spPr>
          <a:xfrm>
            <a:off x="4572000" y="4114800"/>
            <a:ext cx="3108960" cy="1463040"/>
          </a:xfrm>
          <a:prstGeom prst="rect">
            <a:avLst/>
          </a:prstGeom>
          <a:solidFill>
            <a:srgbClr val="262626"/>
          </a:solidFill>
          <a:ln w="12700">
            <a:solidFill>
              <a:srgbClr val="525252"/>
            </a:solidFill>
            <a:prstDash val="solid"/>
          </a:ln>
        </p:spPr>
        <p:txBody>
          <a:bodyPr/>
          <a:lstStyle/>
          <a:p>
            <a:endParaRPr lang="ko-KR" altLang="en-US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9" name="Text 7"/>
          <p:cNvSpPr/>
          <p:nvPr/>
        </p:nvSpPr>
        <p:spPr>
          <a:xfrm>
            <a:off x="4754880" y="43434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400" dirty="0">
                <a:solidFill>
                  <a:srgbClr val="C7F284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CALL</a:t>
            </a:r>
            <a:endParaRPr lang="en-US" sz="10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10" name="Text 8"/>
          <p:cNvSpPr/>
          <p:nvPr/>
        </p:nvSpPr>
        <p:spPr>
          <a:xfrm>
            <a:off x="4754880" y="47548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1800-8125</a:t>
            </a:r>
            <a:endParaRPr lang="en-US" sz="22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8229600" y="4114800"/>
            <a:ext cx="3108960" cy="1463040"/>
          </a:xfrm>
          <a:prstGeom prst="rect">
            <a:avLst/>
          </a:prstGeom>
          <a:solidFill>
            <a:srgbClr val="262626"/>
          </a:solidFill>
          <a:ln w="12700">
            <a:solidFill>
              <a:srgbClr val="525252"/>
            </a:solidFill>
            <a:prstDash val="solid"/>
          </a:ln>
        </p:spPr>
        <p:txBody>
          <a:bodyPr/>
          <a:lstStyle/>
          <a:p>
            <a:endParaRPr lang="ko-KR" altLang="en-US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8412480" y="43434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400" dirty="0">
                <a:solidFill>
                  <a:srgbClr val="C7F284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SALES</a:t>
            </a:r>
            <a:endParaRPr lang="en-US" sz="10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8412480" y="47548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dirty="0">
                <a:solidFill>
                  <a:schemeClr val="bg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박성용 팀장</a:t>
            </a:r>
            <a:endParaRPr lang="en-US" altLang="ko-KR" dirty="0">
              <a:solidFill>
                <a:schemeClr val="bg1"/>
              </a:solidFill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  <a:p>
            <a:pPr marL="0" indent="0" algn="ctr">
              <a:buNone/>
            </a:pPr>
            <a:r>
              <a:rPr lang="en-US" dirty="0">
                <a:solidFill>
                  <a:schemeClr val="bg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psy@invitocorp.com</a:t>
            </a:r>
          </a:p>
        </p:txBody>
      </p:sp>
      <p:sp>
        <p:nvSpPr>
          <p:cNvPr id="14" name="Shape 12"/>
          <p:cNvSpPr/>
          <p:nvPr/>
        </p:nvSpPr>
        <p:spPr>
          <a:xfrm>
            <a:off x="457200" y="6172200"/>
            <a:ext cx="11247120" cy="0"/>
          </a:xfrm>
          <a:prstGeom prst="line">
            <a:avLst/>
          </a:prstGeom>
          <a:noFill/>
          <a:ln w="6350">
            <a:solidFill>
              <a:srgbClr val="262626"/>
            </a:solidFill>
            <a:prstDash val="solid"/>
          </a:ln>
        </p:spPr>
        <p:txBody>
          <a:bodyPr/>
          <a:lstStyle/>
          <a:p>
            <a:endParaRPr lang="ko-KR" altLang="en-US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457200" y="630936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kern="0" spc="100" dirty="0">
                <a:solidFill>
                  <a:srgbClr val="737373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한줄로 (TargetUp) · 주식회사 인비토</a:t>
            </a:r>
            <a:endParaRPr lang="en-US" sz="11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1353</Words>
  <Application>Microsoft Office PowerPoint</Application>
  <PresentationFormat>와이드스크린</PresentationFormat>
  <Paragraphs>378</Paragraphs>
  <Slides>16</Slides>
  <Notes>16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16</vt:i4>
      </vt:variant>
    </vt:vector>
  </HeadingPairs>
  <TitlesOfParts>
    <vt:vector size="19" baseType="lpstr">
      <vt:lpstr>Pretendard</vt:lpstr>
      <vt:lpstr>Arial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한줄로 서비스 소개서</dc:title>
  <dc:subject>한국 마케팅 통합 자동화 SaaS</dc:subject>
  <dc:creator>한줄로 (TargetUp)</dc:creator>
  <cp:lastModifiedBy>invito</cp:lastModifiedBy>
  <cp:revision>2</cp:revision>
  <dcterms:created xsi:type="dcterms:W3CDTF">2026-05-21T13:30:01Z</dcterms:created>
  <dcterms:modified xsi:type="dcterms:W3CDTF">2026-05-22T06:55:06Z</dcterms:modified>
</cp:coreProperties>
</file>