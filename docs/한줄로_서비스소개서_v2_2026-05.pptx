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1B4B"/>
              </a:gs>
              <a:gs pos="100000">
                <a:srgbClr val="4A044C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4114800"/>
            <a:ext cx="5029200" cy="5029200"/>
          </a:xfrm>
          <a:prstGeom prst="ellipse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42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0" y="731520"/>
            <a:ext cx="3017520" cy="91440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73152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 i="0">
                <a:solidFill>
                  <a:srgbClr val="FFFFFF"/>
                </a:solidFill>
                <a:latin typeface="Pretendard"/>
              </a:rPr>
              <a:t>한줄로__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12471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FFFFFF"/>
                </a:solidFill>
                <a:latin typeface="Pretendard"/>
              </a:rPr>
              <a:t>마케터의 자연어 한 줄,</a:t>
            </a:r>
          </a:p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FFFFFF"/>
                </a:solidFill>
                <a:latin typeface="Pretendard"/>
              </a:rPr>
              <a:t>AI가 마케팅 전체를 운영합니다.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94A3B8"/>
                </a:solidFill>
                <a:latin typeface="Pretendard"/>
              </a:rPr>
              <a:t>단, 실행은 항상 사용자가 승인합니다.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1">
                <a:solidFill>
                  <a:srgbClr val="A78BFA"/>
                </a:solidFill>
                <a:latin typeface="Pretendard"/>
              </a:rPr>
              <a:t>Where AI proposes, humans approve.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Pretendard"/>
              </a:rPr>
              <a:t>한국 통신 native · 한국 자사몰 native · 글로벌 마테크 표준 압도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"/>
            <a:ext cx="1188720" cy="32004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한줄로__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onsolas"/>
              </a:rPr>
              <a:t>02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228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504769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28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A78BFA"/>
                </a:solidFill>
                <a:latin typeface="Pretendard"/>
              </a:rPr>
              <a:t>Manifesto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Pretendard"/>
              </a:rPr>
              <a:t>자연어 한 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11247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A78BFA"/>
                </a:solidFill>
                <a:latin typeface="Pretendard"/>
              </a:rPr>
              <a:t>타겟 + 메시지 + 채널 + 시점 + 비용 + 컴플라이언스.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11247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D946EF"/>
                </a:solidFill>
                <a:latin typeface="Pretendard"/>
              </a:rPr>
              <a:t>6 AI 협업, 5~10초 안에 완성된 마케팅 패키지.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26280"/>
            <a:ext cx="11247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 i="0">
                <a:solidFill>
                  <a:srgbClr val="34D399"/>
                </a:solidFill>
                <a:latin typeface="Pretendard"/>
              </a:rPr>
              <a:t>사용자 승인 → 발송.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94A3B8"/>
                </a:solidFill>
                <a:latin typeface="Pretendard"/>
              </a:rPr>
              <a:t>한국 통신 native + 한국 자사몰 native + 글로벌 표준 압도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"/>
            <a:ext cx="1188720" cy="32004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한줄로__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onsolas"/>
              </a:rPr>
              <a:t>03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228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693F45"/>
          </a:solidFill>
          <a:ln w="635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28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B7185"/>
                </a:solidFill>
                <a:latin typeface="Pretendard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FFFFFF"/>
                </a:solidFill>
                <a:latin typeface="Pretendard"/>
              </a:rPr>
              <a:t>한국 마케터는 매일 이런 일을 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94A3B8"/>
                </a:solidFill>
                <a:latin typeface="Pretendard"/>
              </a:rPr>
              <a:t>반복되는 흐름, 매번 2~4시간의 손해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B7185"/>
                </a:solidFill>
                <a:latin typeface="Pretendard"/>
              </a:rPr>
              <a:t>1~2시간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Pretendard"/>
              </a:rPr>
              <a:t>타겟 추출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4A3B8"/>
                </a:solidFill>
                <a:latin typeface="Pretendard"/>
              </a:rPr>
              <a:t>DB 쿼리 작성 → 엑셀 다운로드 → 필터 조합 → 중복 제거 → 수신거부 검증.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46888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09160" y="2834640"/>
            <a:ext cx="640080" cy="6400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365760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BBF24"/>
                </a:solidFill>
                <a:latin typeface="Pretendard"/>
              </a:rPr>
              <a:t>30분~1시간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411480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Pretendard"/>
              </a:rPr>
              <a:t>메시지 작성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617720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4A3B8"/>
                </a:solidFill>
                <a:latin typeface="Pretendard"/>
              </a:rPr>
              <a:t>브랜드 톤 검토 → 광고 검증 → 채널별 분량 조정 → A/B 안 작성 → 변수 매핑.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46888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20" y="283464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65760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A78BFA"/>
                </a:solidFill>
                <a:latin typeface="Pretendard"/>
              </a:rPr>
              <a:t>30분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11480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Pretendard"/>
              </a:rPr>
              <a:t>검수 + 발송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617720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4A3B8"/>
                </a:solidFill>
                <a:latin typeface="Pretendard"/>
              </a:rPr>
              <a:t>정보통신망법 검증 → 080 무료거부 → 발신번호 확인 → 시간대 검증 → 발송.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760720"/>
            <a:ext cx="11064240" cy="640080"/>
          </a:xfrm>
          <a:prstGeom prst="roundRect">
            <a:avLst>
              <a:gd name="adj" fmla="val 30000"/>
            </a:avLst>
          </a:prstGeom>
          <a:solidFill>
            <a:srgbClr val="441A2E"/>
          </a:solidFill>
          <a:ln w="635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DA4AF"/>
                </a:solidFill>
                <a:latin typeface="Pretendard"/>
              </a:rPr>
              <a:t>캠페인 한 번에 평균 2~4시간 + 매번 같은 흐름 반복 = 마케터의 가장 큰 손해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"/>
            <a:ext cx="1188720" cy="32004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한줄로__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onsolas"/>
              </a:rPr>
              <a:t>04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228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504769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28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A78BFA"/>
                </a:solidFill>
                <a:latin typeface="Pretendard"/>
              </a:rP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자연어 한 줄 → 5~10초 안 완성된 마케팅 패키지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Pretendard"/>
              </a:rPr>
              <a:t>AI 6 협업 흐름으로 마케터의 2~4시간을 5~10초로 압축합니다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194560"/>
            <a:ext cx="5760720" cy="73152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3B2A6B"/>
              </a:gs>
              <a:gs pos="100000">
                <a:srgbClr val="441A6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194560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Pretendard"/>
              </a:rPr>
              <a:t>✦  VIP 재구매 유도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71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i="0">
                <a:solidFill>
                  <a:srgbClr val="A78BFA"/>
                </a:solidFill>
                <a:latin typeface="Pretendard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447" y="3383280"/>
            <a:ext cx="1783080" cy="9601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6395" y="3547872"/>
            <a:ext cx="329184" cy="32918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447" y="393192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Pretendard"/>
              </a:rPr>
              <a:t>Trigger 감지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47391" y="3383280"/>
            <a:ext cx="1783080" cy="9601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74339" y="3547872"/>
            <a:ext cx="329184" cy="32918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47391" y="393192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Pretendard"/>
              </a:rPr>
              <a:t>타겟 분석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5335" y="3383280"/>
            <a:ext cx="1783080" cy="9601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12283" y="3547872"/>
            <a:ext cx="329184" cy="32918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85335" y="393192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Pretendard"/>
              </a:rPr>
              <a:t>회사 학습 적용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3279" y="3383280"/>
            <a:ext cx="1783080" cy="9601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0227" y="3547872"/>
            <a:ext cx="329184" cy="329184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3279" y="393192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Pretendard"/>
              </a:rPr>
              <a:t>단계 + 흐름 설계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61223" y="3383280"/>
            <a:ext cx="1783080" cy="9601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3547872"/>
            <a:ext cx="329184" cy="329184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1223" y="393192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Pretendard"/>
              </a:rPr>
              <a:t>본문 3안 작성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99167" y="3383280"/>
            <a:ext cx="1783080" cy="9601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D94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526115" y="3547872"/>
            <a:ext cx="329184" cy="329184"/>
          </a:xfrm>
          <a:prstGeom prst="ellipse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99167" y="393192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Pretendard"/>
              </a:rPr>
              <a:t>검토 준비 완료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i="0">
                <a:solidFill>
                  <a:srgbClr val="A78BFA"/>
                </a:solidFill>
                <a:latin typeface="Pretendard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4846320"/>
            <a:ext cx="8503920" cy="109728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C3AED"/>
              </a:gs>
              <a:gs pos="100000">
                <a:srgbClr val="86198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489204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Pretendard"/>
              </a:rPr>
              <a:t>통합 마케팅 패키지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349240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E9D5FF"/>
                </a:solidFill>
                <a:latin typeface="Pretendard"/>
              </a:rPr>
              <a:t>타겟 · 메시지 3안 · 채널 · 시점 · 비용 · 컴플라이언스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1">
                <a:solidFill>
                  <a:srgbClr val="34D399"/>
                </a:solidFill>
                <a:latin typeface="Pretendard"/>
              </a:rPr>
              <a:t>마케터는 검토 + 승인만. AI 단독 발송은 절대 없습니다.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"/>
            <a:ext cx="1188720" cy="32004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한줄로__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onsolas"/>
              </a:rPr>
              <a:t>05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228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504769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28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A78BFA"/>
                </a:solidFill>
                <a:latin typeface="Pretendard"/>
              </a:rPr>
              <a:t>Core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FFFFFF"/>
                </a:solidFill>
                <a:latin typeface="Pretendard"/>
              </a:rPr>
              <a:t>한줄로의 핵심 가치 3축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Pretendard"/>
              </a:rPr>
              <a:t>자연어 진입 + AI 자율 운영 + 한국 통신 native — 글로벌 표준 압도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834640"/>
            <a:ext cx="777240" cy="7772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Pretendard"/>
              </a:rPr>
              <a:t>자연어 한 줄 진입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A78BFA"/>
                </a:solidFill>
                <a:latin typeface="Pretendard"/>
              </a:rPr>
              <a:t>Canvas + Liquid 직접 작성 불필요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4873752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7548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BD5E1"/>
                </a:solidFill>
                <a:latin typeface="Pretendard"/>
              </a:rPr>
              <a:t>마케팅 의도만 한 줄로 입력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5257800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13892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BD5E1"/>
                </a:solidFill>
                <a:latin typeface="Pretendard"/>
              </a:rPr>
              <a:t>AI가 통합 패키지 자동 생성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5641848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52297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BD5E1"/>
                </a:solidFill>
                <a:latin typeface="Pretendard"/>
              </a:rPr>
              <a:t>5~10초 안에 검토 화면 진입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246888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09160" y="2834640"/>
            <a:ext cx="777240" cy="7772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283464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7490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Pretendard"/>
              </a:rPr>
              <a:t>AI 자율 운영 + 사용자 동의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2519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34D399"/>
                </a:solidFill>
                <a:latin typeface="Pretendard"/>
              </a:rPr>
              <a:t>매일 AI 제안서 + 사용자 승인 흐름</a:t>
            </a:r>
          </a:p>
        </p:txBody>
      </p:sp>
      <p:sp>
        <p:nvSpPr>
          <p:cNvPr id="25" name="Oval 24"/>
          <p:cNvSpPr/>
          <p:nvPr/>
        </p:nvSpPr>
        <p:spPr>
          <a:xfrm>
            <a:off x="4754880" y="4873752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47548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BD5E1"/>
                </a:solidFill>
                <a:latin typeface="Pretendard"/>
              </a:rPr>
              <a:t>AI 영구 운영 목표 등록</a:t>
            </a:r>
          </a:p>
        </p:txBody>
      </p:sp>
      <p:sp>
        <p:nvSpPr>
          <p:cNvPr id="27" name="Oval 26"/>
          <p:cNvSpPr/>
          <p:nvPr/>
        </p:nvSpPr>
        <p:spPr>
          <a:xfrm>
            <a:off x="4754880" y="5257800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513892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BD5E1"/>
                </a:solidFill>
                <a:latin typeface="Pretendard"/>
              </a:rPr>
              <a:t>매일 자동 제안서 생성</a:t>
            </a:r>
          </a:p>
        </p:txBody>
      </p:sp>
      <p:sp>
        <p:nvSpPr>
          <p:cNvPr id="29" name="Oval 28"/>
          <p:cNvSpPr/>
          <p:nvPr/>
        </p:nvSpPr>
        <p:spPr>
          <a:xfrm>
            <a:off x="4754880" y="564184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3480" y="552297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BD5E1"/>
                </a:solidFill>
                <a:latin typeface="Pretendard"/>
              </a:rPr>
              <a:t>사용자 승인 후만 발송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246888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03920" y="2834640"/>
            <a:ext cx="777240" cy="77724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283464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7490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Pretendard"/>
              </a:rPr>
              <a:t>한국 통신 native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2519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38BDF8"/>
                </a:solidFill>
                <a:latin typeface="Pretendard"/>
              </a:rPr>
              <a:t>6년+ 한국 통신 인프라 운영 자산</a:t>
            </a:r>
          </a:p>
        </p:txBody>
      </p:sp>
      <p:sp>
        <p:nvSpPr>
          <p:cNvPr id="36" name="Oval 35"/>
          <p:cNvSpPr/>
          <p:nvPr/>
        </p:nvSpPr>
        <p:spPr>
          <a:xfrm>
            <a:off x="8549640" y="4873752"/>
            <a:ext cx="91440" cy="9144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0" y="47548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BD5E1"/>
                </a:solidFill>
                <a:latin typeface="Pretendard"/>
              </a:rPr>
              <a:t>SMS/LMS/MMS/카카오 알림톡 native</a:t>
            </a:r>
          </a:p>
        </p:txBody>
      </p:sp>
      <p:sp>
        <p:nvSpPr>
          <p:cNvPr id="38" name="Oval 37"/>
          <p:cNvSpPr/>
          <p:nvPr/>
        </p:nvSpPr>
        <p:spPr>
          <a:xfrm>
            <a:off x="8549640" y="5257800"/>
            <a:ext cx="91440" cy="9144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0" y="513892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BD5E1"/>
                </a:solidFill>
                <a:latin typeface="Pretendard"/>
              </a:rPr>
              <a:t>정보통신망법 자동 검증</a:t>
            </a:r>
          </a:p>
        </p:txBody>
      </p:sp>
      <p:sp>
        <p:nvSpPr>
          <p:cNvPr id="40" name="Oval 39"/>
          <p:cNvSpPr/>
          <p:nvPr/>
        </p:nvSpPr>
        <p:spPr>
          <a:xfrm>
            <a:off x="8549640" y="5641848"/>
            <a:ext cx="91440" cy="9144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0" y="552297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BD5E1"/>
                </a:solidFill>
                <a:latin typeface="Pretendard"/>
              </a:rPr>
              <a:t>080 무료거부 + 발신번호 자동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94A3B8"/>
                </a:solidFill>
                <a:latin typeface="Pretendard"/>
              </a:rPr>
              <a:t>본 3축은 글로벌 마테크 어떤 솔루션도 통합 보유하지 못한 한줄로 고유 자산입니다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"/>
            <a:ext cx="1188720" cy="32004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한줄로__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onsolas"/>
              </a:rPr>
              <a:t>06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228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504769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28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A78BFA"/>
                </a:solidFill>
                <a:latin typeface="Pretendard"/>
              </a:rPr>
              <a:t>10 메뉴 1/2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한 곳에서 마케팅 전체를 운영합니다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Pretendard"/>
              </a:rPr>
              <a:t>AI Operator 10 메뉴 — 통합 매트릭스 (1번부터 5번)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2212848" cy="4023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2212848" cy="91440"/>
          </a:xfrm>
          <a:prstGeom prst="roundRect">
            <a:avLst>
              <a:gd name="adj" fmla="val 1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560320"/>
            <a:ext cx="640080" cy="64008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60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18470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Pretendard"/>
              </a:rPr>
              <a:t>여정 자동화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84708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7 표준 여정 (가입/재구매/휴면/장바구니/생일/예약/Custom) + AI 자동 생성 + 단계별 시뮬레이션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5216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B7185"/>
                </a:solidFill>
                <a:latin typeface="Pretendard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25496" y="2194560"/>
            <a:ext cx="2212848" cy="4023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25496" y="2194560"/>
            <a:ext cx="2212848" cy="91440"/>
          </a:xfrm>
          <a:prstGeom prst="roundRect">
            <a:avLst>
              <a:gd name="adj" fmla="val 1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45536" y="256032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45536" y="2560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8376" y="3429000"/>
            <a:ext cx="18470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Pretendard"/>
              </a:rPr>
              <a:t>AI 자율 예측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8376" y="3931920"/>
            <a:ext cx="184708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이탈 위험 + 구매 가능성 + LTV 60/90/365일 + 7+ 영역 + Explainability + 1-click 대응 캠페인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8376" y="585216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A78BFA"/>
                </a:solidFill>
                <a:latin typeface="Pretendard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02352" y="2194560"/>
            <a:ext cx="2212848" cy="4023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02352" y="2194560"/>
            <a:ext cx="2212848" cy="91440"/>
          </a:xfrm>
          <a:prstGeom prst="roundRect">
            <a:avLst>
              <a:gd name="adj" fmla="val 1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22392" y="256032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22392" y="2560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2" y="3429000"/>
            <a:ext cx="18470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Pretendard"/>
              </a:rPr>
              <a:t>AI 자동 마케팅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2" y="3931920"/>
            <a:ext cx="184708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영구 운영 목표 + 매일 자동 제안서 + 사용자 승인 흐름 + 비용 한도 + 발송 정책 매트릭스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585216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4D399"/>
                </a:solidFill>
                <a:latin typeface="Pretendard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79208" y="2194560"/>
            <a:ext cx="2212848" cy="4023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79208" y="2194560"/>
            <a:ext cx="2212848" cy="9144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99248" y="256032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99248" y="2560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62088" y="3429000"/>
            <a:ext cx="18470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Pretendard"/>
              </a:rPr>
              <a:t>성과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2088" y="3931920"/>
            <a:ext cx="184708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funnel + 코호트 + 채널 ROI + 시간대 성과 + 회사 vs 업계 + AI Next Action 추천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62088" y="585216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8BDF8"/>
                </a:solidFill>
                <a:latin typeface="Pretendard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56064" y="2194560"/>
            <a:ext cx="2212848" cy="4023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56064" y="2194560"/>
            <a:ext cx="2212848" cy="91440"/>
          </a:xfrm>
          <a:prstGeom prst="roundRect">
            <a:avLst>
              <a:gd name="adj" fmla="val 10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76104" y="2560320"/>
            <a:ext cx="640080" cy="640080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76104" y="2560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Pretendard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38944" y="3429000"/>
            <a:ext cx="18470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Pretendard"/>
              </a:rPr>
              <a:t>자사몰 + 데이터 융합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38944" y="3931920"/>
            <a:ext cx="184708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CDP + 카페24 + 네이버 스마트스토어 + 자체 호스팅 + RFM 자동 통합 + Source 인식 채널 선택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38944" y="585216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818CF8"/>
                </a:solidFill>
                <a:latin typeface="Pretendard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64748B"/>
                </a:solidFill>
                <a:latin typeface="Pretendard"/>
              </a:rPr>
              <a:t>다음 슬라이드 → 6번부터 10번까지 (인앱 / Email / 모바일 DM / AI 메모리 / AI 사용량)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"/>
            <a:ext cx="1188720" cy="32004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한줄로__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onsolas"/>
              </a:rPr>
              <a:t>07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228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504769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28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A78BFA"/>
                </a:solidFill>
                <a:latin typeface="Pretendard"/>
              </a:rPr>
              <a:t>10 메뉴 2/2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Cross-channel + 자율 학습 + 비용 안전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Pretendard"/>
              </a:rPr>
              <a:t>AI Operator 10 메뉴 — 통합 매트릭스 (6번부터 10번)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2212848" cy="4023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2212848" cy="9144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56032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60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Pretendard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18470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Pretendard"/>
              </a:rPr>
              <a:t>인앱 메시지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84708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5 템플릿 (full screen / slide in / inline card / toast / floating) + A/B 테스트 + 트래킹 + 이미지 + 다중 CTA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5216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06B6D4"/>
                </a:solidFill>
                <a:latin typeface="Pretendard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25496" y="2194560"/>
            <a:ext cx="2212848" cy="4023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25496" y="2194560"/>
            <a:ext cx="2212848" cy="91440"/>
          </a:xfrm>
          <a:prstGeom prst="roundRect">
            <a:avLst>
              <a:gd name="adj" fmla="val 1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45536" y="2560320"/>
            <a:ext cx="640080" cy="6400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45536" y="2560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Pretendard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8376" y="3429000"/>
            <a:ext cx="18470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Pretendard"/>
              </a:rPr>
              <a:t>Email 캠페인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8376" y="3931920"/>
            <a:ext cx="184708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SMTP 4 preset (Gmail / Naver / Daum / Custom) + AES-256 암호화 + 오픈/클릭 추적 + 반송 자동 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8376" y="585216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BBF24"/>
                </a:solidFill>
                <a:latin typeface="Pretendard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02352" y="2194560"/>
            <a:ext cx="2212848" cy="4023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02352" y="2194560"/>
            <a:ext cx="2212848" cy="91440"/>
          </a:xfrm>
          <a:prstGeom prst="roundRect">
            <a:avLst>
              <a:gd name="adj" fmla="val 10000"/>
            </a:avLst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22392" y="2560320"/>
            <a:ext cx="640080" cy="640080"/>
          </a:xfrm>
          <a:prstGeom prst="ellipse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22392" y="2560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Pretendard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2" y="3429000"/>
            <a:ext cx="18470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Pretendard"/>
              </a:rPr>
              <a:t>모바일 DM 브로셔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2" y="3931920"/>
            <a:ext cx="184708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27 섹션 빌더 + WYSIWYG + 빠른 시작 7 시나리오 + AI 자동 섹션 추천 + 자동 카피 생성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585216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D946EF"/>
                </a:solidFill>
                <a:latin typeface="Pretendard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79208" y="2194560"/>
            <a:ext cx="2212848" cy="4023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79208" y="2194560"/>
            <a:ext cx="2212848" cy="91440"/>
          </a:xfrm>
          <a:prstGeom prst="roundRect">
            <a:avLst>
              <a:gd name="adj" fmla="val 1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99248" y="256032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99248" y="2560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Pretendard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62088" y="3429000"/>
            <a:ext cx="18470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Pretendard"/>
              </a:rPr>
              <a:t>AI 학습 메모리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2088" y="3931920"/>
            <a:ext cx="184708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5 학습 타입 + 자율 누적 + 자연어 검색 + 영향도 시각화 + 회사별 톤 진화 추적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62088" y="585216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4D399"/>
                </a:solidFill>
                <a:latin typeface="Pretendard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56064" y="2194560"/>
            <a:ext cx="2212848" cy="4023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56064" y="2194560"/>
            <a:ext cx="2212848" cy="9144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76104" y="256032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76104" y="2560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38944" y="3429000"/>
            <a:ext cx="18470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Pretendard"/>
              </a:rPr>
              <a:t>AI 사용량 + 비용 안전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38944" y="3931920"/>
            <a:ext cx="184708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비용 예측 + 한도 알림 (50/80/95%) + Batch 모드 가이드 (24h SLA + 50% 절감) + cache 히트율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38944" y="585216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8BDF8"/>
                </a:solidFill>
                <a:latin typeface="Pretendard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64748B"/>
                </a:solidFill>
                <a:latin typeface="Pretendard"/>
              </a:rPr>
              <a:t>10 메뉴 모두 Journey Builder 동급 8 화면 디자인으로 통합 강화 완료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"/>
            <a:ext cx="1188720" cy="32004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한줄로__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onsolas"/>
              </a:rPr>
              <a:t>08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228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504769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28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A78BFA"/>
                </a:solidFill>
                <a:latin typeface="Pretendard"/>
              </a:rPr>
              <a:t>AI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AI 6 협업 흐름 — 5~10초 안 마케팅 완성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286000" cy="82296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3B2A6B"/>
              </a:gs>
              <a:gs pos="100000">
                <a:srgbClr val="441A6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A78BFA"/>
                </a:solidFill>
                <a:latin typeface="Pretendard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자연어 한 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28800"/>
            <a:ext cx="457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A78BFA"/>
                </a:solidFill>
                <a:latin typeface="Pretendard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645920"/>
            <a:ext cx="5760720" cy="3200400"/>
          </a:xfrm>
          <a:prstGeom prst="roundRect">
            <a:avLst>
              <a:gd name="adj" fmla="val 5000"/>
            </a:avLst>
          </a:prstGeom>
          <a:solidFill>
            <a:srgbClr val="1A142E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7373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A78BFA"/>
                </a:solidFill>
                <a:latin typeface="Pretendard"/>
              </a:rPr>
              <a:t>AI 6 협업 (5~10초)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240280"/>
            <a:ext cx="1783080" cy="64008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635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240280"/>
            <a:ext cx="365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B7185"/>
                </a:solidFill>
                <a:latin typeface="Pretendard"/>
              </a:rPr>
              <a:t>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2402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Trigger 감지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2240280"/>
            <a:ext cx="1783080" cy="64008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63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2240280"/>
            <a:ext cx="365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BBF24"/>
                </a:solidFill>
                <a:latin typeface="Pretendard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2402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타겟 분석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2240280"/>
            <a:ext cx="1783080" cy="64008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63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2240280"/>
            <a:ext cx="365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34D399"/>
                </a:solidFill>
                <a:latin typeface="Pretendard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2402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회사 학습 적용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2990088"/>
            <a:ext cx="1783080" cy="64008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63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2990088"/>
            <a:ext cx="365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6B6D4"/>
                </a:solidFill>
                <a:latin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2990088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단계 + 흐름 설계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66360" y="2990088"/>
            <a:ext cx="1783080" cy="64008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2990088"/>
            <a:ext cx="365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A78BFA"/>
                </a:solidFill>
                <a:latin typeface="Pretendard"/>
              </a:rPr>
              <a:t>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2990088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본문 3안 작성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95160" y="2990088"/>
            <a:ext cx="1783080" cy="64008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6350">
            <a:solidFill>
              <a:srgbClr val="D94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2990088"/>
            <a:ext cx="365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D946EF"/>
                </a:solidFill>
                <a:latin typeface="Pretendard"/>
              </a:rPr>
              <a:t>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2990088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검토 준비 완료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4069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34D399"/>
                </a:solidFill>
                <a:latin typeface="Pretendard"/>
              </a:rPr>
              <a:t>회사 누적 학습 + 컴플라이언스 자동 + 0건 자동 차단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1828800"/>
            <a:ext cx="45720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A78BFA"/>
                </a:solidFill>
                <a:latin typeface="Pretendard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0" y="1828800"/>
            <a:ext cx="2286000" cy="301752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C3AED"/>
              </a:gs>
              <a:gs pos="100000">
                <a:srgbClr val="86198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19659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Pretendard"/>
              </a:rPr>
              <a:t>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3317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통합 패키지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288036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E9D5FF"/>
                </a:solidFill>
                <a:latin typeface="Pretendard"/>
              </a:rPr>
              <a:t>· 타겟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317296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E9D5FF"/>
                </a:solidFill>
                <a:latin typeface="Pretendard"/>
              </a:rPr>
              <a:t>· 메시지 3안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3465576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E9D5FF"/>
                </a:solidFill>
                <a:latin typeface="Pretendard"/>
              </a:rPr>
              <a:t>· 채널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375818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E9D5FF"/>
                </a:solidFill>
                <a:latin typeface="Pretendard"/>
              </a:rPr>
              <a:t>· 발송 시점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4050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E9D5FF"/>
                </a:solidFill>
                <a:latin typeface="Pretendard"/>
              </a:rPr>
              <a:t>· 비용 추정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434340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E9D5FF"/>
                </a:solidFill>
                <a:latin typeface="Pretendard"/>
              </a:rPr>
              <a:t>· 컴플라이언스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34D399"/>
                </a:solidFill>
                <a:latin typeface="Pretendard"/>
              </a:rPr>
              <a:t>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0" y="5715000"/>
            <a:ext cx="6675120" cy="77724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43C2C"/>
              </a:gs>
              <a:gs pos="100000">
                <a:srgbClr val="05464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0" y="5715000"/>
            <a:ext cx="6675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34D399"/>
                </a:solidFill>
                <a:latin typeface="Pretendard"/>
              </a:rPr>
              <a:t>사용자 검토 → 승인 → 발송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"/>
            <a:ext cx="1188720" cy="32004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한줄로__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onsolas"/>
              </a:rPr>
              <a:t>09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228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2E5668"/>
          </a:solidFill>
          <a:ln w="63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28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38BDF8"/>
                </a:solidFill>
                <a:latin typeface="Pretendard"/>
              </a:rPr>
              <a:t>Korea 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한국 통신 인프라 진정 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Pretendard"/>
              </a:rPr>
              <a:t>6년+ 한국 마테크 운영 자산 + 통신사 + 한국인터넷진흥원 + 카카오 직접 연동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69748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2651760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Pretendard"/>
              </a:rPr>
              <a:t>SMS / LMS / MMS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200400"/>
            <a:ext cx="4160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94A3B8"/>
                </a:solidFill>
                <a:latin typeface="Pretendard"/>
              </a:rPr>
              <a:t>6,000사+ 운영 자산 + EUC-KR 한글 안전망 + 안전 특수문자 화이트리스트 + 일 300만+ 발송 처리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28600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60" y="2697480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2651760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Pretendard"/>
              </a:rPr>
              <a:t>카카오 알림톡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200400"/>
            <a:ext cx="4160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94A3B8"/>
                </a:solidFill>
                <a:latin typeface="Pretendard"/>
              </a:rPr>
              <a:t>자동 검수 연동 + 반려 사유 자동 학습 + SMS 자동 폴백 + 친구톡 + 채널 가입 자동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9768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709160"/>
            <a:ext cx="548640" cy="54864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4663440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Pretendard"/>
              </a:rPr>
              <a:t>정보통신망법 자동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212080"/>
            <a:ext cx="4160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94A3B8"/>
                </a:solidFill>
                <a:latin typeface="Pretendard"/>
              </a:rPr>
              <a:t>광고 prefix 자동 + 무료거부 080 자동 + 발송 시간대 (KST 08~21시) 자동 검증 + 동의 매트릭스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29768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4709160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663440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Pretendard"/>
              </a:rPr>
              <a:t>발신번호 + 검수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5212080"/>
            <a:ext cx="4160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94A3B8"/>
                </a:solidFill>
                <a:latin typeface="Pretendard"/>
              </a:rPr>
              <a:t>통신사 발신번호 검증 자동 + 한국인터넷진흥원 + 카카오 검수 자동 매트릭스 + 차단 위험 사전 안내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6355080"/>
            <a:ext cx="11064240" cy="411480"/>
          </a:xfrm>
          <a:prstGeom prst="roundRect">
            <a:avLst>
              <a:gd name="adj" fmla="val 30000"/>
            </a:avLst>
          </a:prstGeom>
          <a:solidFill>
            <a:srgbClr val="143C4A"/>
          </a:solidFill>
          <a:ln w="63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38BDF8"/>
                </a:solidFill>
                <a:latin typeface="Pretendard"/>
              </a:rPr>
              <a:t>글로벌 마테크 진입 0건 — 한줄로의 절대 우위 영역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"/>
            <a:ext cx="1188720" cy="32004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한줄로__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onsolas"/>
              </a:rPr>
              <a:t>10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228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444868"/>
          </a:solidFill>
          <a:ln w="635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28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818CF8"/>
                </a:solidFill>
                <a:latin typeface="Pretendard"/>
              </a:rPr>
              <a:t>CDP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자사몰 → 한줄로 CDP — 한 줄 SDK 연동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Pretendard"/>
              </a:rPr>
              <a:t>고객 360도 프로필 자동 집계 → AI Operator 자동 활용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887" y="2194560"/>
            <a:ext cx="1828800" cy="100584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887" y="2194560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자사몰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9687" y="2194560"/>
            <a:ext cx="4114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0">
                <a:solidFill>
                  <a:srgbClr val="38BDF8"/>
                </a:solidFill>
                <a:latin typeface="Pretendard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1167" y="2194560"/>
            <a:ext cx="1828800" cy="100584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1167" y="2194560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SDK
(한 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9967" y="2194560"/>
            <a:ext cx="4114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0">
                <a:solidFill>
                  <a:srgbClr val="34D399"/>
                </a:solidFill>
                <a:latin typeface="Pretendard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81447" y="2194560"/>
            <a:ext cx="1828800" cy="100584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1447" y="2194560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한줄로
CDP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194560"/>
            <a:ext cx="4114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0">
                <a:solidFill>
                  <a:srgbClr val="A78BFA"/>
                </a:solidFill>
                <a:latin typeface="Pretendard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1727" y="2194560"/>
            <a:ext cx="1828800" cy="100584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D94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1727" y="2194560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고객
360도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0527" y="2194560"/>
            <a:ext cx="4114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0">
                <a:solidFill>
                  <a:srgbClr val="D946EF"/>
                </a:solidFill>
                <a:latin typeface="Pretendard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62007" y="2194560"/>
            <a:ext cx="1828800" cy="100584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62007" y="2194560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AI Operator
자동 활용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84048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0624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Pretendard"/>
              </a:rPr>
              <a:t>카페24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4068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4A3B8"/>
                </a:solidFill>
                <a:latin typeface="Pretendard"/>
              </a:rPr>
              <a:t>OAuth 1-click 연동 + Webhook 자동 + 주문 + 회원 자동 sync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84048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09160" y="420624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49834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Pretendard"/>
              </a:rPr>
              <a:t>네이버 스마트스토어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44068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4A3B8"/>
                </a:solidFill>
                <a:latin typeface="Pretendard"/>
              </a:rPr>
              <a:t>Naver Commerce API + Webhook + 자동 등록 + 옛 회원 자동 import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84048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03920" y="420624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49834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Pretendard"/>
              </a:rPr>
              <a:t>자체 호스팅 / Custom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44068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4A3B8"/>
                </a:solidFill>
                <a:latin typeface="Pretendard"/>
              </a:rPr>
              <a:t>Webhook 서명 검증 + Node.js / PHP / Python 코드 샘플 제공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1">
                <a:solidFill>
                  <a:srgbClr val="94A3B8"/>
                </a:solidFill>
                <a:latin typeface="Pretendard"/>
              </a:rPr>
              <a:t>고객 360도 프로필 = 최근 구매 + 빈도 + 금액 + 라이프스테이지 + 선호 채널 자동 집계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"/>
            <a:ext cx="1188720" cy="32004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한줄로__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onsolas"/>
              </a:rPr>
              <a:t>11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228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F545D"/>
          </a:solidFill>
          <a:ln w="63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28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06B6D4"/>
                </a:solidFill>
                <a:latin typeface="Pretendard"/>
              </a:rPr>
              <a:t>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마케팅 모든 채널, 한 곳에서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Pretendard"/>
              </a:rPr>
              <a:t>통합 SMS + 알림톡 + Email + Push + 인앱 + 음성 AI — 7 채널 native 지원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265176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60604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Pretendard"/>
              </a:rPr>
              <a:t>SMS / LMS / MMS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26517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2E5668"/>
          </a:solidFill>
          <a:ln w="63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65176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38BDF8"/>
                </a:solidFill>
                <a:latin typeface="Pretendard"/>
              </a:rPr>
              <a:t>BASIC+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Pretendard"/>
              </a:rPr>
              <a:t>한국 통신 native + EUC-KR 안전망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28600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63440" y="265176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60604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Pretendard"/>
              </a:rPr>
              <a:t>카카오 알림톡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26517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95728"/>
          </a:solidFill>
          <a:ln w="63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65176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BBF24"/>
                </a:solidFill>
                <a:latin typeface="Pretendard"/>
              </a:rPr>
              <a:t>BASIC+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2461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Pretendard"/>
              </a:rPr>
              <a:t>자동 검수 + SMS 자동 폴백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28600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58200" y="2651760"/>
            <a:ext cx="502920" cy="502920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60604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Pretendard"/>
              </a:rPr>
              <a:t>Email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52760" y="26517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444868"/>
          </a:solidFill>
          <a:ln w="635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52760" y="265176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818CF8"/>
                </a:solidFill>
                <a:latin typeface="Pretendard"/>
              </a:rPr>
              <a:t>BUSINESS+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2461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Pretendard"/>
              </a:rPr>
              <a:t>SMTP 4 preset + 오픈/클릭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16052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8680" y="452628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08760" y="448056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Pretendard"/>
              </a:rPr>
              <a:t>Web Push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63240" y="45262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504769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63240" y="452628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A78BFA"/>
                </a:solidFill>
                <a:latin typeface="Pretendard"/>
              </a:rPr>
              <a:t>BUSINESS+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1206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Pretendard"/>
              </a:rPr>
              <a:t>VAPID + 자동 expire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3400" y="416052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3440" y="452628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0" y="448056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Pretendard"/>
              </a:rPr>
              <a:t>인앱 메시지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45262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F545D"/>
          </a:solidFill>
          <a:ln w="63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452628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06B6D4"/>
                </a:solidFill>
                <a:latin typeface="Pretendard"/>
              </a:rPr>
              <a:t>BUSINESS+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51206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Pretendard"/>
              </a:rPr>
              <a:t>5 템플릿 + A/B + 트래킹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416052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58200" y="4526280"/>
            <a:ext cx="502920" cy="50292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98280" y="448056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Pretendard"/>
              </a:rPr>
              <a:t>음성 AI (인바운드)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652760" y="45262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93F45"/>
          </a:solidFill>
          <a:ln w="635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52760" y="452628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B7185"/>
                </a:solidFill>
                <a:latin typeface="Pretendard"/>
              </a:rPr>
              <a:t>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51206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Pretendard"/>
              </a:rPr>
              <a:t>STT + 자동 응답 + TTS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1">
                <a:solidFill>
                  <a:srgbClr val="94A3B8"/>
                </a:solidFill>
                <a:latin typeface="Pretendard"/>
              </a:rPr>
              <a:t>회사 admin이 자연어 한 줄 입력 → AI가 최적 채널 자동 추천 (회사 누적 학습 기반)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"/>
            <a:ext cx="1188720" cy="32004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한줄로__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onsolas"/>
              </a:rPr>
              <a:t>12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228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5F3365"/>
          </a:solidFill>
          <a:ln w="6350">
            <a:solidFill>
              <a:srgbClr val="D94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28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D946EF"/>
                </a:solidFill>
                <a:latin typeface="Pretendard"/>
              </a:rPr>
              <a:t>Mobile 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Pretendard"/>
              </a:rPr>
              <a:t>모바일 DM 브로셔 — 27 섹션 + AI 자동 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4A3B8"/>
                </a:solidFill>
                <a:latin typeface="Pretendard"/>
              </a:rPr>
              <a:t>자연어 한 줄 → AI 자동 섹션 추천 + 카피 자동 생성 → WYSIWYG 편집 → 발송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A78BFA"/>
                </a:solidFill>
                <a:latin typeface="Pretendard"/>
              </a:rPr>
              <a:t>빠른 시작 7 시나리오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2194560" cy="64008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2834640"/>
            <a:ext cx="274320" cy="27432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65176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신상품 출시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651760"/>
            <a:ext cx="2194560" cy="64008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63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71800" y="2834640"/>
            <a:ext cx="274320" cy="27432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65176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시즌 세일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651760"/>
            <a:ext cx="2194560" cy="64008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635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57800" y="2834640"/>
            <a:ext cx="274320" cy="27432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265176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이벤트 추첨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83280"/>
            <a:ext cx="2194560" cy="64008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63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566160"/>
            <a:ext cx="274320" cy="27432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3832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매장 안내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3383280"/>
            <a:ext cx="2194560" cy="64008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63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71800" y="3566160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33832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설문 보상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0" y="3383280"/>
            <a:ext cx="2194560" cy="64008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63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57800" y="3566160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3560" y="33832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신규 환영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114800"/>
            <a:ext cx="2194560" cy="64008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6350">
            <a:solidFill>
              <a:srgbClr val="D94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297680"/>
            <a:ext cx="274320" cy="274320"/>
          </a:xfrm>
          <a:prstGeom prst="ellipse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11480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룰렛 게임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2194560"/>
            <a:ext cx="3931920" cy="4389120"/>
          </a:xfrm>
          <a:prstGeom prst="roundRect">
            <a:avLst>
              <a:gd name="adj" fmla="val 8000"/>
            </a:avLst>
          </a:prstGeom>
          <a:solidFill>
            <a:srgbClr val="0A0E1A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09560" y="2331720"/>
            <a:ext cx="3657600" cy="73152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3B2A6B"/>
              </a:gs>
              <a:gs pos="100000">
                <a:srgbClr val="4C1D95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60" y="233172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VIP 봄 신상품 안내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9560" y="315468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31546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Pretendard"/>
              </a:rPr>
              <a:t>[상품 이미지]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9560" y="4709160"/>
            <a:ext cx="3657600" cy="8686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480060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Pretendard"/>
              </a:rPr>
              <a:t>새로운 시즌의 시작.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94A3B8"/>
                </a:solidFill>
                <a:latin typeface="Pretendard"/>
              </a:rPr>
              <a:t>VIP 회원만을 위한 미리보기.</a:t>
            </a:r>
          </a:p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FBBF24"/>
                </a:solidFill>
                <a:latin typeface="Pretendard"/>
              </a:rPr>
              <a:t>[직접 작성해주세요]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5715000"/>
            <a:ext cx="3200400" cy="502920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A78BFA"/>
              </a:gs>
              <a:gs pos="100000">
                <a:srgbClr val="D946E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571500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✦  지금 보러가기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63093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34D399"/>
                </a:solidFill>
                <a:latin typeface="Pretendard"/>
              </a:rPr>
              <a:t>✓ 응답 추적 + AI 학습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1">
                <a:solidFill>
                  <a:srgbClr val="94A3B8"/>
                </a:solidFill>
                <a:latin typeface="Pretendard"/>
              </a:rPr>
              <a:t>27 섹션 = 시각 카드형 + 인터랙션 수집형 + 참여형 + 외부 임베드 (4 카테고리)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"/>
            <a:ext cx="1188720" cy="32004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한줄로__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onsolas"/>
              </a:rPr>
              <a:t>13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228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2D5D4B"/>
          </a:solidFill>
          <a:ln w="63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28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34D399"/>
                </a:solidFill>
                <a:latin typeface="Pretendard"/>
              </a:rPr>
              <a:t>AI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시간이 지날수록 정확도가 올라갑니다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Pretendard"/>
              </a:rPr>
              <a:t>회사별 자율 학습 5 타입 — 자연어 검색 + 영향도 시각화 + 근거 인용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8007" y="2286000"/>
            <a:ext cx="2194560" cy="15544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8007" y="2286000"/>
            <a:ext cx="2194560" cy="91440"/>
          </a:xfrm>
          <a:prstGeom prst="roundRect">
            <a:avLst>
              <a:gd name="adj" fmla="val 1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6687" y="256032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8007" y="31546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성공 패턴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167" y="34747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94A3B8"/>
                </a:solidFill>
                <a:latin typeface="Pretendard"/>
              </a:rPr>
              <a:t>클릭률 높은 캠페인 자동 누적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58287" y="2286000"/>
            <a:ext cx="2194560" cy="15544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58287" y="2286000"/>
            <a:ext cx="2194560" cy="91440"/>
          </a:xfrm>
          <a:prstGeom prst="roundRect">
            <a:avLst>
              <a:gd name="adj" fmla="val 15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26967" y="256032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58287" y="31546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채널 성과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5447" y="34747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94A3B8"/>
                </a:solidFill>
                <a:latin typeface="Pretendard"/>
              </a:rPr>
              <a:t>SMS vs LMS 자동 비교 누적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98567" y="2286000"/>
            <a:ext cx="2194560" cy="15544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98567" y="2286000"/>
            <a:ext cx="2194560" cy="9144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67247" y="256032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98567" y="31546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고객 인사이트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5727" y="34747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94A3B8"/>
                </a:solidFill>
                <a:latin typeface="Pretendard"/>
              </a:rPr>
              <a:t>VIP / 휴면 / 신규 행동 누적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38847" y="2286000"/>
            <a:ext cx="2194560" cy="15544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38847" y="2286000"/>
            <a:ext cx="2194560" cy="91440"/>
          </a:xfrm>
          <a:prstGeom prst="roundRect">
            <a:avLst>
              <a:gd name="adj" fmla="val 15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07527" y="256032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38847" y="31546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브랜드 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6007" y="34747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94A3B8"/>
                </a:solidFill>
                <a:latin typeface="Pretendard"/>
              </a:rPr>
              <a:t>회사 admin 입력 + 6개월 추적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79127" y="2286000"/>
            <a:ext cx="2194560" cy="15544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79127" y="2286000"/>
            <a:ext cx="2194560" cy="91440"/>
          </a:xfrm>
          <a:prstGeom prst="roundRect">
            <a:avLst>
              <a:gd name="adj" fmla="val 15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47807" y="2560320"/>
            <a:ext cx="457200" cy="4572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79127" y="31546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컴플라이언스 학습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6287" y="34747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94A3B8"/>
                </a:solidFill>
                <a:latin typeface="Pretendard"/>
              </a:rPr>
              <a:t>차단 단어 + 안전 대체 자동 매핑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0887" y="4206240"/>
            <a:ext cx="2011680" cy="10972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016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0887" y="420624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캠페인 발송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12567" y="4206240"/>
            <a:ext cx="1828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38BDF8"/>
                </a:solidFill>
                <a:latin typeface="Pretendard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95447" y="4206240"/>
            <a:ext cx="2011680" cy="10972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016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95447" y="420624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성과 자동 누적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07127" y="4206240"/>
            <a:ext cx="1828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34D399"/>
                </a:solidFill>
                <a:latin typeface="Pretendard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90007" y="4206240"/>
            <a:ext cx="2011680" cy="10972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016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90007" y="420624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AI 다음 추천 자동 참고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01687" y="4206240"/>
            <a:ext cx="1828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A78BFA"/>
                </a:solidFill>
                <a:latin typeface="Pretendard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84567" y="4206240"/>
            <a:ext cx="2011680" cy="10972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016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84567" y="420624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회사 admin
자연어 질문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96247" y="4206240"/>
            <a:ext cx="1828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FBBF24"/>
                </a:solidFill>
                <a:latin typeface="Pretendard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79127" y="4206240"/>
            <a:ext cx="2011680" cy="10972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0160">
            <a:solidFill>
              <a:srgbClr val="D94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79127" y="420624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AI 근거 인용 답변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34D399"/>
                </a:solidFill>
                <a:latin typeface="Pretendard"/>
              </a:rPr>
              <a:t>회사별 학습 누적 = 한줄로 절대 우위 — 시간이 지날수록 추천 정확도 향상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94A3B8"/>
                </a:solidFill>
                <a:latin typeface="Pretendard"/>
              </a:rPr>
              <a:t>회사 admin이 자율 학습 검토 + 직접 삭제 가능 — 데이터 주권 보장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"/>
            <a:ext cx="1188720" cy="32004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한줄로__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onsolas"/>
              </a:rPr>
              <a:t>14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228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693F45"/>
          </a:solidFill>
          <a:ln w="635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28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B7185"/>
                </a:solidFill>
                <a:latin typeface="Pretendard"/>
              </a:rPr>
              <a:t>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마케터가 신경 쓰지 않아도 안전합니다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Pretendard"/>
              </a:rPr>
              <a:t>법적 위험 + 차단 위험 + 수신자 권리 = 자동 안전망으로 회사 보호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286000"/>
            <a:ext cx="73152" cy="182880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697480"/>
            <a:ext cx="502920" cy="50292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5176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Pretendard"/>
              </a:rPr>
              <a:t>정보통신망법 자동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20040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4A3B8"/>
                </a:solidFill>
                <a:latin typeface="Pretendard"/>
              </a:rPr>
              <a:t>광고성 (광고) prefix 자동 + 무료거부 080 자동 + 발송 시간대 (KST 08~21시) 자동 검증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28600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2286000"/>
            <a:ext cx="73152" cy="18288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37960" y="269748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6974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65176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Pretendard"/>
              </a:rPr>
              <a:t>카카오 알림톡 검수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20040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4A3B8"/>
                </a:solidFill>
                <a:latin typeface="Pretendard"/>
              </a:rPr>
              <a:t>자동 검수 연동 + 반려 사유 자동 학습 + SMS 자동 폴백 + 친구톡 자동 매트릭스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9768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297680"/>
            <a:ext cx="73152" cy="18288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0916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091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66344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Pretendard"/>
              </a:rPr>
              <a:t>타겟 0건 자동 차단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21208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4A3B8"/>
                </a:solidFill>
                <a:latin typeface="Pretendard"/>
              </a:rPr>
              <a:t>AI 임의 조건 완화 절대 X = 발송 차단 (수신자 권리 보호 + 마케팅 의도 보존)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29768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72200" y="4297680"/>
            <a:ext cx="73152" cy="18288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37960" y="470916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7091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66344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Pretendard"/>
              </a:rPr>
              <a:t>AI 임의 혜택 차단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521208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4A3B8"/>
                </a:solidFill>
                <a:latin typeface="Pretendard"/>
              </a:rPr>
              <a:t>AI는 흐름/안내문만 제안 / 구체 혜택 (%/원/쿠폰) = 회사 admin 직접 입력 의무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6355080"/>
            <a:ext cx="11064240" cy="411480"/>
          </a:xfrm>
          <a:prstGeom prst="roundRect">
            <a:avLst>
              <a:gd name="adj" fmla="val 30000"/>
            </a:avLst>
          </a:prstGeom>
          <a:solidFill>
            <a:srgbClr val="441A2E"/>
          </a:solidFill>
          <a:ln w="635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B7185"/>
                </a:solidFill>
                <a:latin typeface="Pretendard"/>
              </a:rPr>
              <a:t>옛 D215+ 사고 영구 정정 — 6,000사+ 운영 사고 0건 누적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"/>
            <a:ext cx="1188720" cy="32004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한줄로__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onsolas"/>
              </a:rPr>
              <a:t>15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228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2D5D4B"/>
          </a:solidFill>
          <a:ln w="63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28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34D399"/>
                </a:solidFill>
                <a:latin typeface="Pretendard"/>
              </a:rPr>
              <a:t>Cost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비용 폭증 X + 사고 X — 회사 운영 안전망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Pretendard"/>
              </a:rPr>
              <a:t>6,000사+ 운영 자산 = 비용 폭증 사고 0건 + 자동 환불 안전망 누적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74520" y="2743200"/>
            <a:ext cx="914400" cy="9144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FFFFFF"/>
                </a:solidFill>
                <a:latin typeface="Pretendard"/>
              </a:rPr>
              <a:t>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Pretendard"/>
              </a:rPr>
              <a:t>AI 호출 한도 + 알림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4599432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4805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Pretendard"/>
              </a:rPr>
              <a:t>요금제별 월 한도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4965192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8463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Pretendard"/>
              </a:rPr>
              <a:t>50% / 80% / 95% 임계값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5330952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52120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Pretendard"/>
              </a:rPr>
              <a:t>Email / SMS / 앱 알림 채널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237744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69280" y="2743200"/>
            <a:ext cx="914400" cy="9144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27432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8404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Pretendard"/>
              </a:rPr>
              <a:t>자동 환불 안전망</a:t>
            </a:r>
          </a:p>
        </p:txBody>
      </p:sp>
      <p:sp>
        <p:nvSpPr>
          <p:cNvPr id="23" name="Oval 22"/>
          <p:cNvSpPr/>
          <p:nvPr/>
        </p:nvSpPr>
        <p:spPr>
          <a:xfrm>
            <a:off x="4800600" y="4599432"/>
            <a:ext cx="91440" cy="9144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44805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Pretendard"/>
              </a:rPr>
              <a:t>발송 실패 자동 환불</a:t>
            </a:r>
          </a:p>
        </p:txBody>
      </p:sp>
      <p:sp>
        <p:nvSpPr>
          <p:cNvPr id="25" name="Oval 24"/>
          <p:cNvSpPr/>
          <p:nvPr/>
        </p:nvSpPr>
        <p:spPr>
          <a:xfrm>
            <a:off x="4800600" y="4965192"/>
            <a:ext cx="91440" cy="9144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48463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Pretendard"/>
              </a:rPr>
              <a:t>통신사 응답 회복 시 환불 reverse</a:t>
            </a:r>
          </a:p>
        </p:txBody>
      </p:sp>
      <p:sp>
        <p:nvSpPr>
          <p:cNvPr id="27" name="Oval 26"/>
          <p:cNvSpPr/>
          <p:nvPr/>
        </p:nvSpPr>
        <p:spPr>
          <a:xfrm>
            <a:off x="4800600" y="5330952"/>
            <a:ext cx="91440" cy="9144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52120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Pretendard"/>
              </a:rPr>
              <a:t>회사 손해 영구 차단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237744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64040" y="2743200"/>
            <a:ext cx="914400" cy="9144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27432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FFFFFF"/>
                </a:solidFill>
                <a:latin typeface="Pretendard"/>
              </a:rPr>
              <a:t>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8404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Pretendard"/>
              </a:rPr>
              <a:t>Batch 모드 50% 절감</a:t>
            </a:r>
          </a:p>
        </p:txBody>
      </p:sp>
      <p:sp>
        <p:nvSpPr>
          <p:cNvPr id="33" name="Oval 32"/>
          <p:cNvSpPr/>
          <p:nvPr/>
        </p:nvSpPr>
        <p:spPr>
          <a:xfrm>
            <a:off x="8595360" y="4599432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3960" y="44805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Pretendard"/>
              </a:rPr>
              <a:t>대량 작업 24h SLA</a:t>
            </a:r>
          </a:p>
        </p:txBody>
      </p:sp>
      <p:sp>
        <p:nvSpPr>
          <p:cNvPr id="35" name="Oval 34"/>
          <p:cNvSpPr/>
          <p:nvPr/>
        </p:nvSpPr>
        <p:spPr>
          <a:xfrm>
            <a:off x="8595360" y="4965192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23960" y="48463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Pretendard"/>
              </a:rPr>
              <a:t>비용 50% 절감 옵션</a:t>
            </a:r>
          </a:p>
        </p:txBody>
      </p:sp>
      <p:sp>
        <p:nvSpPr>
          <p:cNvPr id="37" name="Oval 36"/>
          <p:cNvSpPr/>
          <p:nvPr/>
        </p:nvSpPr>
        <p:spPr>
          <a:xfrm>
            <a:off x="8595360" y="5330952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23960" y="52120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4A3B8"/>
                </a:solidFill>
                <a:latin typeface="Pretendard"/>
              </a:rPr>
              <a:t>한도 절감 효과 자동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34D399"/>
                </a:solidFill>
                <a:latin typeface="Pretendard"/>
              </a:rPr>
              <a:t>회사 admin이 한도 + 알림 직접 설정 — 비용 투명 + 사전 안내 자동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발송 실패 / timeout 자동 환불 → 통신사 응답 회복 시 환불 reverse (회사 손해 보호)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"/>
            <a:ext cx="1188720" cy="32004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한줄로__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onsolas"/>
              </a:rPr>
              <a:t>16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228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444868"/>
          </a:solidFill>
          <a:ln w="635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28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818CF8"/>
                </a:solidFill>
                <a:latin typeface="Pretendard"/>
              </a:rPr>
              <a:t>Payment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한줄로 통합 결제 — 카드 + 선불 잔액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Pretendard"/>
              </a:rPr>
              <a:t>복잡한 정산 X — 한 곳에서 결제 + 사용 + 환불 + 통계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A78BFA"/>
                </a:solidFill>
                <a:latin typeface="Pretendard"/>
              </a:rPr>
              <a:t>통합 결제 흐름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154680"/>
            <a:ext cx="274320" cy="27432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175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Pretendard"/>
              </a:rPr>
              <a:t>카드결제 (이니시스 표준결제)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749040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490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118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Pretendard"/>
              </a:rPr>
              <a:t>선불 잔액 자동 충전 + 사용 차감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343400"/>
            <a:ext cx="274320" cy="27432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43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206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Pretendard"/>
              </a:rPr>
              <a:t>발송 실패 자동 환불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937760"/>
            <a:ext cx="274320" cy="27432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9377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800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Pretendard"/>
              </a:rPr>
              <a:t>잔액 부족 시 자동 알림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532120"/>
            <a:ext cx="274320" cy="274320"/>
          </a:xfrm>
          <a:prstGeom prst="ellipse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5321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3949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Pretendard"/>
              </a:rPr>
              <a:t>월별 사용 통계 + 영수증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2286000"/>
            <a:ext cx="4846320" cy="4114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256032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94A3B8"/>
                </a:solidFill>
                <a:latin typeface="Pretendard"/>
              </a:rPr>
              <a:t>결제 + 잔액 관리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3108960"/>
            <a:ext cx="4297680" cy="109728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3B2A6B"/>
              </a:gs>
              <a:gs pos="100000">
                <a:srgbClr val="4C1D95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31546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C4B5FD"/>
                </a:solidFill>
                <a:latin typeface="Pretendard"/>
              </a:rPr>
              <a:t>선불 잔액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47472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800" b="1" i="0">
                <a:solidFill>
                  <a:srgbClr val="FFFFFF"/>
                </a:solidFill>
                <a:latin typeface="Pretendard"/>
              </a:rPr>
              <a:t>₩ 1,250,000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4389120"/>
            <a:ext cx="2103120" cy="50292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34D399"/>
              </a:gs>
              <a:gs pos="100000">
                <a:srgbClr val="14B8A6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43891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잔액 충전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4389120"/>
            <a:ext cx="2103120" cy="50292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43891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Pretendard"/>
              </a:rPr>
              <a:t>영수증 다운로드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16636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최근 사용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532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· VIP 봄 캠페인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55321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₩ 24,800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824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· 휴면 회수 알림톡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58247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₩ 18,200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611733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· 신상품 LMS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611733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₩ 31,500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"/>
            <a:ext cx="1188720" cy="32004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한줄로__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onsolas"/>
              </a:rPr>
              <a:t>17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228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504769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28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A78BFA"/>
                </a:solidFill>
                <a:latin typeface="Pretendard"/>
              </a:rPr>
              <a:t>Compare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글로벌 마테크 표준 압도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Pretendard"/>
              </a:rPr>
              <a:t>Braze + Klaviyo + Insider 한국 진입 0건의 본질 — 한줄로의 한국 시장 절대 우위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365760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94A3B8"/>
                </a:solidFill>
                <a:latin typeface="Pretendard"/>
              </a:rPr>
              <a:t>영역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194560"/>
            <a:ext cx="150876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194560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94A3B8"/>
                </a:solidFill>
                <a:latin typeface="Pretendard"/>
              </a:rPr>
              <a:t>Braze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2194560"/>
            <a:ext cx="150876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2194560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94A3B8"/>
                </a:solidFill>
                <a:latin typeface="Pretendard"/>
              </a:rPr>
              <a:t>Klaviyo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194560"/>
            <a:ext cx="150876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2194560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94A3B8"/>
                </a:solidFill>
                <a:latin typeface="Pretendard"/>
              </a:rPr>
              <a:t>Insider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2194560"/>
            <a:ext cx="2880360" cy="384048"/>
          </a:xfrm>
          <a:prstGeom prst="rect">
            <a:avLst/>
          </a:prstGeom>
          <a:solidFill>
            <a:srgbClr val="7C3AED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2194560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한줄로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78608"/>
            <a:ext cx="3657600" cy="38404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57860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94A3B8"/>
                </a:solidFill>
                <a:latin typeface="Pretendard"/>
              </a:rPr>
              <a:t>한국 통신 native (SMS/LMS/카카오)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578608"/>
            <a:ext cx="1508760" cy="38404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2578608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B7185"/>
                </a:solidFill>
                <a:latin typeface="Pretendard"/>
              </a:rPr>
              <a:t>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0" y="2578608"/>
            <a:ext cx="1508760" cy="38404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2578608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B7185"/>
                </a:solidFill>
                <a:latin typeface="Pretendard"/>
              </a:rPr>
              <a:t>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2578608"/>
            <a:ext cx="1508760" cy="38404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2578608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B7185"/>
                </a:solidFill>
                <a:latin typeface="Pretendard"/>
              </a:rPr>
              <a:t>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32520" y="2578608"/>
            <a:ext cx="2880360" cy="384048"/>
          </a:xfrm>
          <a:prstGeom prst="rect">
            <a:avLst/>
          </a:prstGeom>
          <a:solidFill>
            <a:srgbClr val="2E1A47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2578608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34D399"/>
                </a:solidFill>
                <a:latin typeface="Pretendard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962656"/>
            <a:ext cx="3657600" cy="38404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96265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94A3B8"/>
                </a:solidFill>
                <a:latin typeface="Pretendard"/>
              </a:rPr>
              <a:t>자연어 한 줄 진입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2962656"/>
            <a:ext cx="1508760" cy="38404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2962656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B7185"/>
                </a:solidFill>
                <a:latin typeface="Pretendard"/>
              </a:rPr>
              <a:t>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2962656"/>
            <a:ext cx="1508760" cy="38404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5000" y="2962656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B7185"/>
                </a:solidFill>
                <a:latin typeface="Pretendard"/>
              </a:rPr>
              <a:t>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2962656"/>
            <a:ext cx="1508760" cy="38404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2962656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B7185"/>
                </a:solidFill>
                <a:latin typeface="Pretendard"/>
              </a:rPr>
              <a:t>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32520" y="2962656"/>
            <a:ext cx="2880360" cy="384048"/>
          </a:xfrm>
          <a:prstGeom prst="rect">
            <a:avLst/>
          </a:prstGeom>
          <a:solidFill>
            <a:srgbClr val="2E1A47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32520" y="2962656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34D399"/>
                </a:solidFill>
                <a:latin typeface="Pretendard"/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346704"/>
            <a:ext cx="3657600" cy="38404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34670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94A3B8"/>
                </a:solidFill>
                <a:latin typeface="Pretendard"/>
              </a:rPr>
              <a:t>AI 자율 운영 + 사용자 동의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3346704"/>
            <a:ext cx="1508760" cy="38404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0" y="3346704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B7185"/>
                </a:solidFill>
                <a:latin typeface="Pretendard"/>
              </a:rPr>
              <a:t>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15000" y="3346704"/>
            <a:ext cx="1508760" cy="38404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15000" y="3346704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B7185"/>
                </a:solidFill>
                <a:latin typeface="Pretendard"/>
              </a:rPr>
              <a:t>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23760" y="3346704"/>
            <a:ext cx="1508760" cy="38404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23760" y="3346704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BBF24"/>
                </a:solidFill>
                <a:latin typeface="Pretendard"/>
              </a:rPr>
              <a:t>△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32520" y="3346704"/>
            <a:ext cx="2880360" cy="384048"/>
          </a:xfrm>
          <a:prstGeom prst="rect">
            <a:avLst/>
          </a:prstGeom>
          <a:solidFill>
            <a:srgbClr val="2E1A47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32520" y="3346704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34D399"/>
                </a:solidFill>
                <a:latin typeface="Pretendard"/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3730752"/>
            <a:ext cx="3657600" cy="38404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373075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94A3B8"/>
                </a:solidFill>
                <a:latin typeface="Pretendard"/>
              </a:rPr>
              <a:t>회사별 누적 학습 + 자연어 검색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3730752"/>
            <a:ext cx="1508760" cy="38404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40" y="3730752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BBF24"/>
                </a:solidFill>
                <a:latin typeface="Pretendard"/>
              </a:rPr>
              <a:t>△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15000" y="3730752"/>
            <a:ext cx="1508760" cy="38404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15000" y="3730752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B7185"/>
                </a:solidFill>
                <a:latin typeface="Pretendard"/>
              </a:rPr>
              <a:t>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23760" y="3730752"/>
            <a:ext cx="1508760" cy="38404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23760" y="3730752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B7185"/>
                </a:solidFill>
                <a:latin typeface="Pretendard"/>
              </a:rPr>
              <a:t>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732520" y="3730752"/>
            <a:ext cx="2880360" cy="384048"/>
          </a:xfrm>
          <a:prstGeom prst="rect">
            <a:avLst/>
          </a:prstGeom>
          <a:solidFill>
            <a:srgbClr val="2E1A47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32520" y="3730752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34D399"/>
                </a:solidFill>
                <a:latin typeface="Pretendard"/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114800"/>
            <a:ext cx="3657600" cy="38404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411480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94A3B8"/>
                </a:solidFill>
                <a:latin typeface="Pretendard"/>
              </a:rPr>
              <a:t>자사몰 native (카페24 + 네이버)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06240" y="4114800"/>
            <a:ext cx="1508760" cy="38404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06240" y="4114800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B7185"/>
                </a:solidFill>
                <a:latin typeface="Pretendard"/>
              </a:rPr>
              <a:t>X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15000" y="4114800"/>
            <a:ext cx="1508760" cy="38404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15000" y="4114800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B7185"/>
                </a:solidFill>
                <a:latin typeface="Pretendard"/>
              </a:rPr>
              <a:t>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23760" y="4114800"/>
            <a:ext cx="1508760" cy="38404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23760" y="4114800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B7185"/>
                </a:solidFill>
                <a:latin typeface="Pretendard"/>
              </a:rPr>
              <a:t>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32520" y="4114800"/>
            <a:ext cx="2880360" cy="384048"/>
          </a:xfrm>
          <a:prstGeom prst="rect">
            <a:avLst/>
          </a:prstGeom>
          <a:solidFill>
            <a:srgbClr val="2E1A47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32520" y="4114800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34D399"/>
                </a:solidFill>
                <a:latin typeface="Pretendard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4498848"/>
            <a:ext cx="3657600" cy="38404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40" y="449884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94A3B8"/>
                </a:solidFill>
                <a:latin typeface="Pretendard"/>
              </a:rPr>
              <a:t>정보통신망법 자동 안전망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06240" y="4498848"/>
            <a:ext cx="1508760" cy="38404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06240" y="4498848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B7185"/>
                </a:solidFill>
                <a:latin typeface="Pretendard"/>
              </a:rPr>
              <a:t>X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715000" y="4498848"/>
            <a:ext cx="1508760" cy="38404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15000" y="4498848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B7185"/>
                </a:solidFill>
                <a:latin typeface="Pretendard"/>
              </a:rPr>
              <a:t>X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23760" y="4498848"/>
            <a:ext cx="1508760" cy="38404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23760" y="4498848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B7185"/>
                </a:solidFill>
                <a:latin typeface="Pretendard"/>
              </a:rPr>
              <a:t>X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32520" y="4498848"/>
            <a:ext cx="2880360" cy="384048"/>
          </a:xfrm>
          <a:prstGeom prst="rect">
            <a:avLst/>
          </a:prstGeom>
          <a:solidFill>
            <a:srgbClr val="2E1A47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732520" y="4498848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34D399"/>
                </a:solidFill>
                <a:latin typeface="Pretendard"/>
              </a:rPr>
              <a:t>✓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4882896"/>
            <a:ext cx="3657600" cy="38404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48640" y="488289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94A3B8"/>
                </a:solidFill>
                <a:latin typeface="Pretendard"/>
              </a:rPr>
              <a:t>Multi-Goal 충돌 분석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06240" y="4882896"/>
            <a:ext cx="1508760" cy="38404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06240" y="4882896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B7185"/>
                </a:solidFill>
                <a:latin typeface="Pretendard"/>
              </a:rPr>
              <a:t>X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715000" y="4882896"/>
            <a:ext cx="1508760" cy="38404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715000" y="4882896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B7185"/>
                </a:solidFill>
                <a:latin typeface="Pretendard"/>
              </a:rPr>
              <a:t>X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23760" y="4882896"/>
            <a:ext cx="1508760" cy="38404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23760" y="4882896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B7185"/>
                </a:solidFill>
                <a:latin typeface="Pretendard"/>
              </a:rPr>
              <a:t>X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732520" y="4882896"/>
            <a:ext cx="2880360" cy="384048"/>
          </a:xfrm>
          <a:prstGeom prst="rect">
            <a:avLst/>
          </a:prstGeom>
          <a:solidFill>
            <a:srgbClr val="2E1A47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32520" y="4882896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34D399"/>
                </a:solidFill>
                <a:latin typeface="Pretendard"/>
              </a:rPr>
              <a:t>✓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8640" y="5266944"/>
            <a:ext cx="3657600" cy="38404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" y="526694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94A3B8"/>
                </a:solidFill>
                <a:latin typeface="Pretendard"/>
              </a:rPr>
              <a:t>월 가격 (KRW)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5266944"/>
            <a:ext cx="1508760" cy="38404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206240" y="5266944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94A3B8"/>
                </a:solidFill>
                <a:latin typeface="Pretendard"/>
              </a:rPr>
              <a:t>275만+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715000" y="5266944"/>
            <a:ext cx="1508760" cy="38404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715000" y="5266944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94A3B8"/>
                </a:solidFill>
                <a:latin typeface="Pretendard"/>
              </a:rPr>
              <a:t>200만+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223760" y="5266944"/>
            <a:ext cx="1508760" cy="38404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223760" y="5266944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94A3B8"/>
                </a:solidFill>
                <a:latin typeface="Pretendard"/>
              </a:rPr>
              <a:t>400만+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732520" y="5266944"/>
            <a:ext cx="2880360" cy="384048"/>
          </a:xfrm>
          <a:prstGeom prst="rect">
            <a:avLst/>
          </a:prstGeom>
          <a:solidFill>
            <a:srgbClr val="2E1A47"/>
          </a:solidFill>
          <a:ln w="381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732520" y="5266944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35~550만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1">
                <a:solidFill>
                  <a:srgbClr val="A78BFA"/>
                </a:solidFill>
                <a:latin typeface="Pretendard"/>
              </a:rPr>
              <a:t>한국 진입 시 한국 통신 + 자사몰 통합 비용 + 6~12개월 + 수억원 의무 → 한줄로는 native 100%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"/>
            <a:ext cx="1188720" cy="32004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한줄로__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onsolas"/>
              </a:rPr>
              <a:t>18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228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695728"/>
          </a:solidFill>
          <a:ln w="63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28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BBF24"/>
                </a:solidFill>
                <a:latin typeface="Pretendard"/>
              </a:rPr>
              <a:t>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회사 규모에 맞는 4 요금제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Pretendard"/>
              </a:rPr>
              <a:t>단계별 진입 — 신규 마케팅부터 대규모 자율 운영까지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2679192" cy="4023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26791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38BDF8"/>
                </a:solidFill>
                <a:latin typeface="Pretendard"/>
              </a:rPr>
              <a:t>BASIC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267919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35만원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94A3B8"/>
                </a:solidFill>
                <a:latin typeface="Pretendard"/>
              </a:rPr>
              <a:t>/ 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69079"/>
            <a:ext cx="26791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1">
                <a:solidFill>
                  <a:srgbClr val="38BDF8"/>
                </a:solidFill>
                <a:latin typeface="Pretendard"/>
              </a:rPr>
              <a:t>신규 마케팅 시작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480560"/>
            <a:ext cx="1947672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고객 DB + 직접 발송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83480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AI 메시지 + 타겟 추천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49240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엑셀 AI 자동매핑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15000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AI 호출 1,000회/월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64992" y="2194560"/>
            <a:ext cx="2679192" cy="4023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64992" y="2514600"/>
            <a:ext cx="26791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34D399"/>
                </a:solidFill>
                <a:latin typeface="Pretendard"/>
              </a:rPr>
              <a:t>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4992" y="3017520"/>
            <a:ext cx="267919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100만원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3749040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94A3B8"/>
                </a:solidFill>
                <a:latin typeface="Pretendard"/>
              </a:rPr>
              <a:t>/ 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4069079"/>
            <a:ext cx="26791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1">
                <a:solidFill>
                  <a:srgbClr val="34D399"/>
                </a:solidFill>
                <a:latin typeface="Pretendard"/>
              </a:rPr>
              <a:t>본격 마케팅 운영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30752" y="4480560"/>
            <a:ext cx="1947672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3592" y="4617720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+ 자동 발송 + 모바일 DM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3592" y="4983480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+ AI 자율 진단 + 한도 조회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3592" y="5349240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+ AI 메모리 + AI 사용량 조회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3592" y="5715000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AI 호출 10,000회/월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2194560"/>
            <a:ext cx="2679192" cy="402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32294B"/>
              </a:gs>
              <a:gs pos="100000">
                <a:srgbClr val="191425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81344" y="2194560"/>
            <a:ext cx="2679192" cy="402336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926580" y="202996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26580" y="202996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Pretendard"/>
              </a:rPr>
              <a:t>★ 추천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1344" y="2514600"/>
            <a:ext cx="26791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A78BFA"/>
                </a:solidFill>
                <a:latin typeface="Pretendard"/>
              </a:rPr>
              <a:t>BUSINESS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3017520"/>
            <a:ext cx="267919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300만원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3749040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94A3B8"/>
                </a:solidFill>
                <a:latin typeface="Pretendard"/>
              </a:rPr>
              <a:t>/ 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4069079"/>
            <a:ext cx="26791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1">
                <a:solidFill>
                  <a:srgbClr val="A78BFA"/>
                </a:solidFill>
                <a:latin typeface="Pretendard"/>
              </a:rPr>
              <a:t>자사몰 + 멀티 채널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47104" y="4480560"/>
            <a:ext cx="1947672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9944" y="4617720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+ 자사몰 CDP + 인앱 + Email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9944" y="4983480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+ AI 자율 운영 + 여정 자동화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9944" y="5349240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+ Predictive + 성과 고도화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9944" y="5715000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AI 호출 50,000회/월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97696" y="2194560"/>
            <a:ext cx="2679192" cy="402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411547"/>
              </a:gs>
              <a:gs pos="100000">
                <a:srgbClr val="200A23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97696" y="2194560"/>
            <a:ext cx="2679192" cy="402336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D94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742932" y="202996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42932" y="202996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Pretendard"/>
              </a:rPr>
              <a:t>★ 추천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97696" y="2514600"/>
            <a:ext cx="26791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D946EF"/>
                </a:solidFill>
                <a:latin typeface="Pretendard"/>
              </a:rPr>
              <a:t>ENTERPRISE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97696" y="3017520"/>
            <a:ext cx="267919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550만원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97696" y="3749040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94A3B8"/>
                </a:solidFill>
                <a:latin typeface="Pretendard"/>
              </a:rPr>
              <a:t>/ 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97696" y="4069079"/>
            <a:ext cx="26791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1">
                <a:solidFill>
                  <a:srgbClr val="D946EF"/>
                </a:solidFill>
                <a:latin typeface="Pretendard"/>
              </a:rPr>
              <a:t>대규모 + 자율 운영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63456" y="4480560"/>
            <a:ext cx="1947672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26296" y="4617720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+ Multi-Goal + 음성 AI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26296" y="4983480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+ Batch 처리 + 무제한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26296" y="5349240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+ 우선 지원 + 전담 매니저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26296" y="5715000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AI 호출 무제한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1">
                <a:solidFill>
                  <a:srgbClr val="A78BFA"/>
                </a:solidFill>
                <a:latin typeface="Pretendard"/>
              </a:rPr>
              <a:t>AI Operator 자율 운영 흐름 = BUSINESS+ / 글로벌 마테크 동급 = ENTERPRISE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"/>
            <a:ext cx="1188720" cy="32004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한줄로__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onsolas"/>
              </a:rPr>
              <a:t>19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228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2D5D4B"/>
          </a:solidFill>
          <a:ln w="63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28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34D399"/>
                </a:solidFill>
                <a:latin typeface="Pretendard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6,000사+ 운영 자산 + 진정 성과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Pretendard"/>
              </a:rPr>
              <a:t>6년+ 한국 마테크 운영 자산 + AI 새 세대 진정 압도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2679192" cy="1828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267919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 i="0">
                <a:solidFill>
                  <a:srgbClr val="A78BFA"/>
                </a:solidFill>
                <a:latin typeface="Pretendard"/>
              </a:rPr>
              <a:t>6,000+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운영 회사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6년+ 누적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2286000"/>
            <a:ext cx="2679192" cy="1828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2514600"/>
            <a:ext cx="267919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 i="0">
                <a:solidFill>
                  <a:srgbClr val="38BDF8"/>
                </a:solidFill>
                <a:latin typeface="Pretendard"/>
              </a:rPr>
              <a:t>300만+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338328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일 발송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3749040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피크 대응 가능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286000"/>
            <a:ext cx="2679192" cy="1828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4" y="2514600"/>
            <a:ext cx="267919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 i="0">
                <a:solidFill>
                  <a:srgbClr val="34D399"/>
                </a:solidFill>
                <a:latin typeface="Pretendard"/>
              </a:rPr>
              <a:t>5~10초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338328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캠페인 완성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3749040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옛 2~4시간 → 압축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7696" y="2286000"/>
            <a:ext cx="2679192" cy="1828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97696" y="2514600"/>
            <a:ext cx="267919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 i="0">
                <a:solidFill>
                  <a:srgbClr val="FBBF24"/>
                </a:solidFill>
                <a:latin typeface="Pretendard"/>
              </a:rPr>
              <a:t>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38328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비용 절감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6" y="3749040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Batch 모드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80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A78BFA"/>
                </a:solidFill>
                <a:latin typeface="Pretendard"/>
              </a:rPr>
              <a:t>도입 사례 (회사명 비공개)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3776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257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Pretendard"/>
              </a:rP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2120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자사몰 회사 A — 휴면 회수 자율 운영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66928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4A3B8"/>
                </a:solidFill>
                <a:latin typeface="Pretendard"/>
              </a:rPr>
              <a:t>AI 자율 운영 진입 후 휴면 90일+ 고객 재구매율 3.2x 증가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493776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17720" y="5257800"/>
            <a:ext cx="548640" cy="5486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5257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Pretendard"/>
              </a:rP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52120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유통사 B — VIP 등급 자동 분류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566928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4A3B8"/>
                </a:solidFill>
                <a:latin typeface="Pretendard"/>
              </a:rPr>
              <a:t>고객 360도 프로필 자동 집계 + 알림톡 캠페인 → 클릭률 18% 도달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493776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412480" y="5257800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5257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Pretendard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521208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F&amp;B 체인 C — 신상품 출시 자동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566928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4A3B8"/>
                </a:solidFill>
                <a:latin typeface="Pretendard"/>
              </a:rPr>
              <a:t>여정 자동화 진입 후 신상품 발송 작업 시간 90% 절감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34D399"/>
                </a:solidFill>
                <a:latin typeface="Pretendard"/>
              </a:rPr>
              <a:t>6년+ 한국 마테크 운영 자산 + AI 새 세대 = 한국 시장 1위 진정 잠재력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"/>
            <a:ext cx="1188720" cy="32004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한줄로__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onsolas"/>
              </a:rPr>
              <a:t>20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228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2E5668"/>
          </a:solidFill>
          <a:ln w="63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28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38BDF8"/>
                </a:solidFill>
                <a:latin typeface="Pretendard"/>
              </a:rPr>
              <a:t>Onboarding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1주일 안에 운영 시작 — 3 단계 도입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Pretendard"/>
              </a:rPr>
              <a:t>복잡한 통합 + 6개월 onboarding X — 한국 native + 자연어 흐름으로 즉시 진입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>
                <a:solidFill>
                  <a:srgbClr val="38BDF8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9260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Day 1~2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33756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8BDF8"/>
                </a:solidFill>
                <a:latin typeface="Pretendard"/>
              </a:rPr>
              <a:t>준비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977640"/>
            <a:ext cx="283464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297679"/>
            <a:ext cx="91440" cy="9144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160519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요금제 선택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709159"/>
            <a:ext cx="91440" cy="9144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571999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고객 DB 업로드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120639"/>
            <a:ext cx="91440" cy="9144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983479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자사몰 연동 (선택)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532119"/>
            <a:ext cx="91440" cy="9144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394959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회사 정보 등록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22860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2560320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>
                <a:solidFill>
                  <a:srgbClr val="A78BFA"/>
                </a:solidFill>
                <a:latin typeface="Pretendard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29260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Day 3~5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333756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A78BFA"/>
                </a:solidFill>
                <a:latin typeface="Pretendard"/>
              </a:rPr>
              <a:t>체험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3977640"/>
            <a:ext cx="283464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09160" y="4297679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4160519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AI Operator 자연어 흐름 체험</a:t>
            </a:r>
          </a:p>
        </p:txBody>
      </p:sp>
      <p:sp>
        <p:nvSpPr>
          <p:cNvPr id="29" name="Oval 28"/>
          <p:cNvSpPr/>
          <p:nvPr/>
        </p:nvSpPr>
        <p:spPr>
          <a:xfrm>
            <a:off x="4709160" y="4709159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4571999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회사 admin onboarding</a:t>
            </a:r>
          </a:p>
        </p:txBody>
      </p:sp>
      <p:sp>
        <p:nvSpPr>
          <p:cNvPr id="31" name="Oval 30"/>
          <p:cNvSpPr/>
          <p:nvPr/>
        </p:nvSpPr>
        <p:spPr>
          <a:xfrm>
            <a:off x="4709160" y="5120639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4983479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첫 테스트 캠페인</a:t>
            </a:r>
          </a:p>
        </p:txBody>
      </p:sp>
      <p:sp>
        <p:nvSpPr>
          <p:cNvPr id="33" name="Oval 32"/>
          <p:cNvSpPr/>
          <p:nvPr/>
        </p:nvSpPr>
        <p:spPr>
          <a:xfrm>
            <a:off x="4709160" y="5532119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5394959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회사 톤 + 정책 등록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22860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2560320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>
                <a:solidFill>
                  <a:srgbClr val="34D399"/>
                </a:solidFill>
                <a:latin typeface="Pretendard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29260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Day 6~7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33756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4D399"/>
                </a:solidFill>
                <a:latin typeface="Pretendard"/>
              </a:rPr>
              <a:t>본격 운영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3977640"/>
            <a:ext cx="283464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503920" y="4297679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32520" y="4160519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본격 운영 시작</a:t>
            </a:r>
          </a:p>
        </p:txBody>
      </p:sp>
      <p:sp>
        <p:nvSpPr>
          <p:cNvPr id="42" name="Oval 41"/>
          <p:cNvSpPr/>
          <p:nvPr/>
        </p:nvSpPr>
        <p:spPr>
          <a:xfrm>
            <a:off x="8503920" y="4709159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4571999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AI 자율 학습 누적 활성</a:t>
            </a:r>
          </a:p>
        </p:txBody>
      </p:sp>
      <p:sp>
        <p:nvSpPr>
          <p:cNvPr id="44" name="Oval 43"/>
          <p:cNvSpPr/>
          <p:nvPr/>
        </p:nvSpPr>
        <p:spPr>
          <a:xfrm>
            <a:off x="8503920" y="5120639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32520" y="4983479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성과 모니터링</a:t>
            </a:r>
          </a:p>
        </p:txBody>
      </p:sp>
      <p:sp>
        <p:nvSpPr>
          <p:cNvPr id="46" name="Oval 45"/>
          <p:cNvSpPr/>
          <p:nvPr/>
        </p:nvSpPr>
        <p:spPr>
          <a:xfrm>
            <a:off x="8503920" y="5532119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5394959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다음 단계 추천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1">
                <a:solidFill>
                  <a:srgbClr val="38BDF8"/>
                </a:solidFill>
                <a:latin typeface="Pretendard"/>
              </a:rPr>
              <a:t>한줄로 운영팀이 직접 onboarding 지원 — 회사 마케팅팀 합류 후 1주 안 자율 운영 진입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28600"/>
            <a:ext cx="1188720" cy="32004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한줄로__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Consolas"/>
              </a:rPr>
              <a:t>21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228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504769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28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A78BFA"/>
                </a:solidFill>
                <a:latin typeface="Pretendard"/>
              </a:rPr>
              <a:t>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한줄로의 약속 — 7 영구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Pretendard"/>
              </a:rPr>
              <a:t>본 7 원칙은 어떤 상황에서도 변경되지 않습니다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5440680" cy="12344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868680" cy="1234440"/>
          </a:xfrm>
          <a:prstGeom prst="roundRect">
            <a:avLst>
              <a:gd name="adj" fmla="val 15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86868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4231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AI 단독 발송 절대 없음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8803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모든 추천은 사용자 승인 후 발송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194560"/>
            <a:ext cx="5440680" cy="12344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2194560"/>
            <a:ext cx="868680" cy="1234440"/>
          </a:xfrm>
          <a:prstGeom prst="roundRect">
            <a:avLst>
              <a:gd name="adj" fmla="val 15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194560"/>
            <a:ext cx="86868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4231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타겟 정합성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8803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0건 시 발송 차단 (자동 완화 X)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93592"/>
            <a:ext cx="5440680" cy="12344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3593592"/>
            <a:ext cx="868680" cy="1234440"/>
          </a:xfrm>
          <a:prstGeom prst="roundRect">
            <a:avLst>
              <a:gd name="adj" fmla="val 1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93592"/>
            <a:ext cx="86868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82219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회사 데이터 절대 격리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27939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회사별 학습 + 데이터 분리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593592"/>
            <a:ext cx="5440680" cy="12344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72200" y="3593592"/>
            <a:ext cx="868680" cy="123444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593592"/>
            <a:ext cx="86868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82219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사용자 신뢰 절대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27939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모델명 노출 X + 발송 확인 + 비용 투명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992624"/>
            <a:ext cx="5440680" cy="12344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4992624"/>
            <a:ext cx="868680" cy="1234440"/>
          </a:xfrm>
          <a:prstGeom prst="roundRect">
            <a:avLst>
              <a:gd name="adj" fmla="val 15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992624"/>
            <a:ext cx="86868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Pretendard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522122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한국 통신 native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567842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정보통신망법 + 080 + 카카오 + 통신사 자동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992624"/>
            <a:ext cx="5440680" cy="12344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72200" y="4992624"/>
            <a:ext cx="868680" cy="1234440"/>
          </a:xfrm>
          <a:prstGeom prst="roundRect">
            <a:avLst>
              <a:gd name="adj" fmla="val 15000"/>
            </a:avLst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4992624"/>
            <a:ext cx="86868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Pretendard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22122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회사 admin 데이터 주권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567842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학습 메모리 검토 + 직접 삭제 가능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60420" y="6391656"/>
            <a:ext cx="5440680" cy="12344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360420" y="6391656"/>
            <a:ext cx="868680" cy="123444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60420" y="6391656"/>
            <a:ext cx="86868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Pretendard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11980" y="662025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6년+ 운영 자산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11980" y="707745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사고 시 즉시 정정 + 영구 안전망 구축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1B4B"/>
              </a:gs>
              <a:gs pos="100000">
                <a:srgbClr val="4A044C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371600"/>
            <a:ext cx="6400800" cy="6400800"/>
          </a:xfrm>
          <a:prstGeom prst="ellipse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3A1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0" y="640080"/>
            <a:ext cx="3017520" cy="82296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6400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1" i="0">
                <a:solidFill>
                  <a:srgbClr val="FFFFFF"/>
                </a:solidFill>
                <a:latin typeface="Pretendard"/>
              </a:rPr>
              <a:t>한줄로__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600" b="1" i="0">
                <a:solidFill>
                  <a:srgbClr val="FFFFFF"/>
                </a:solidFill>
                <a:latin typeface="Pretendard"/>
              </a:rPr>
              <a:t>마케터의 자연어 한 줄,</a:t>
            </a:r>
          </a:p>
          <a:p>
            <a:pPr algn="ctr">
              <a:lnSpc>
                <a:spcPct val="120000"/>
              </a:lnSpc>
            </a:pPr>
            <a:r>
              <a:rPr sz="4600" b="1" i="0">
                <a:solidFill>
                  <a:srgbClr val="FFFFFF"/>
                </a:solidFill>
                <a:latin typeface="Pretendard"/>
              </a:rPr>
              <a:t>AI가 마케팅 전체를 운영합니다.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A78BFA"/>
                </a:solidFill>
                <a:latin typeface="Pretendard"/>
              </a:rPr>
              <a:t>지금 바로 시작하세요.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8367" y="4526280"/>
            <a:ext cx="2560320" cy="640080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A78BFA"/>
              </a:gs>
              <a:gs pos="100000">
                <a:srgbClr val="D946E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8367" y="45262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Pretendard"/>
              </a:rPr>
              <a:t>무료 체험 시작 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4526280"/>
            <a:ext cx="2560320" cy="640080"/>
          </a:xfrm>
          <a:prstGeom prst="roundRect">
            <a:avLst>
              <a:gd name="adj" fmla="val 4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45262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FFFFFF"/>
                </a:solidFill>
                <a:latin typeface="Pretendard"/>
              </a:rPr>
              <a:t>영업 상담 신청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FFFFFF"/>
                </a:solidFill>
                <a:latin typeface="Pretendard"/>
              </a:rPr>
              <a:t>웹사이트  hanjul.ai</a:t>
            </a:r>
          </a:p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FFFFFF"/>
                </a:solidFill>
                <a:latin typeface="Pretendard"/>
              </a:rPr>
              <a:t>고객사 관리자  app.hanjul.ai</a:t>
            </a:r>
          </a:p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94A3B8"/>
                </a:solidFill>
                <a:latin typeface="Pretendard"/>
              </a:rPr>
              <a:t>영업 문의  [이메일 / 전화]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A78BFA"/>
                </a:solidFill>
                <a:latin typeface="Pretendard"/>
              </a:rPr>
              <a:t>한줄로 — Where AI proposes, humans approve.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